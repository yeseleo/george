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70" r:id="rId4"/>
    <p:sldId id="258" r:id="rId5"/>
    <p:sldId id="259" r:id="rId6"/>
    <p:sldId id="271" r:id="rId7"/>
    <p:sldId id="260" r:id="rId8"/>
    <p:sldId id="261" r:id="rId9"/>
    <p:sldId id="262" r:id="rId10"/>
    <p:sldId id="263" r:id="rId11"/>
    <p:sldId id="264" r:id="rId12"/>
    <p:sldId id="265" r:id="rId13"/>
    <p:sldId id="272" r:id="rId14"/>
    <p:sldId id="266" r:id="rId15"/>
    <p:sldId id="267" r:id="rId16"/>
    <p:sldId id="273" r:id="rId17"/>
    <p:sldId id="268" r:id="rId18"/>
    <p:sldId id="269" r:id="rId19"/>
  </p:sldIdLst>
  <p:sldSz cx="9144000" cy="5143500" type="screen16x9"/>
  <p:notesSz cx="6858000" cy="9144000"/>
  <p:embeddedFontLst>
    <p:embeddedFont>
      <p:font typeface="等线" panose="02010600030101010101" pitchFamily="2" charset="-122"/>
      <p:regular r:id="rId21"/>
      <p:bold r:id="rId22"/>
    </p:embeddedFont>
    <p:embeddedFont>
      <p:font typeface="Maven Pro" panose="02010600030101010101" charset="0"/>
      <p:regular r:id="rId23"/>
      <p:bold r:id="rId24"/>
    </p:embeddedFont>
    <p:embeddedFont>
      <p:font typeface="Nunito" pitchFamily="2" charset="0"/>
      <p:regular r:id="rId25"/>
      <p:bold r:id="rId26"/>
      <p:italic r:id="rId27"/>
      <p:boldItalic r:id="rId28"/>
    </p:embeddedFont>
    <p:embeddedFont>
      <p:font typeface="Roboto"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4412" autoAdjust="0"/>
  </p:normalViewPr>
  <p:slideViewPr>
    <p:cSldViewPr snapToGrid="0">
      <p:cViewPr varScale="1">
        <p:scale>
          <a:sx n="89" d="100"/>
          <a:sy n="89" d="100"/>
        </p:scale>
        <p:origin x="2578"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2f240f2fb0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2f240f2fb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 class we are group 7, and we have Caizhen Huang, Shiheng Huang, Yi Huang, Ziqing Liang and Xinfa Pan in our group, and our presentation is about our analysis on google play reviews.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132967f57e3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132967f57e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are doing a sentiment analysis for Google play reviews, and from the analysis, we want our model to judge whether an application is good or bad so that the users can decide to download and use which app.</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2f240f2fb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2f240f2fb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just">
              <a:lnSpc>
                <a:spcPct val="107000"/>
              </a:lnSpc>
              <a:spcAft>
                <a:spcPts val="800"/>
              </a:spcAft>
              <a:buNone/>
            </a:pPr>
            <a:r>
              <a:rPr lang="en-US" sz="1800" dirty="0">
                <a:effectLst/>
                <a:latin typeface="等线" panose="02010600030101010101" pitchFamily="2" charset="-122"/>
                <a:ea typeface="等线" panose="02010600030101010101" pitchFamily="2" charset="-122"/>
                <a:cs typeface="Arial" panose="020B0604020202020204" pitchFamily="34" charset="0"/>
              </a:rPr>
              <a:t>Georeg will present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549691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2f240f2fb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2f240f2fb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lnSpc>
                <a:spcPct val="107000"/>
              </a:lnSpc>
              <a:spcAft>
                <a:spcPts val="800"/>
              </a:spcAft>
            </a:pPr>
            <a:r>
              <a:rPr lang="en-US" sz="1800" dirty="0">
                <a:effectLst/>
                <a:latin typeface="等线" panose="02010600030101010101" pitchFamily="2" charset="-122"/>
                <a:ea typeface="等线" panose="02010600030101010101" pitchFamily="2" charset="-122"/>
                <a:cs typeface="Arial" panose="020B0604020202020204" pitchFamily="34" charset="0"/>
              </a:rPr>
              <a:t>The data is about the google play app’s reviews, </a:t>
            </a:r>
            <a:r>
              <a:rPr lang="en-US" sz="1800" dirty="0">
                <a:solidFill>
                  <a:srgbClr val="202124"/>
                </a:solidFill>
                <a:effectLst/>
                <a:latin typeface="等线" panose="02010600030101010101" pitchFamily="2" charset="-122"/>
                <a:ea typeface="等线" panose="02010600030101010101" pitchFamily="2" charset="-122"/>
                <a:cs typeface="Arial" panose="020B0604020202020204" pitchFamily="34" charset="0"/>
              </a:rPr>
              <a:t>Google Play is a platform for the public to download different kinds of apps, and people can post reviews and give ratings for the apps.</a:t>
            </a:r>
          </a:p>
          <a:p>
            <a:pPr algn="just">
              <a:lnSpc>
                <a:spcPct val="107000"/>
              </a:lnSpc>
              <a:spcAft>
                <a:spcPts val="800"/>
              </a:spcAft>
            </a:pPr>
            <a:endParaRPr lang="en-US" sz="1800" dirty="0">
              <a:effectLst/>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r>
              <a:rPr lang="en-US" sz="1800" dirty="0">
                <a:solidFill>
                  <a:srgbClr val="202124"/>
                </a:solidFill>
                <a:effectLst/>
                <a:latin typeface="等线" panose="02010600030101010101" pitchFamily="2" charset="-122"/>
                <a:ea typeface="等线" panose="02010600030101010101" pitchFamily="2" charset="-122"/>
                <a:cs typeface="Arial" panose="020B0604020202020204" pitchFamily="34" charset="0"/>
              </a:rPr>
              <a:t>We scraped app information and reviews using a package called “</a:t>
            </a:r>
            <a:r>
              <a:rPr lang="en-US" sz="1800" dirty="0" err="1">
                <a:solidFill>
                  <a:srgbClr val="202124"/>
                </a:solidFill>
                <a:effectLst/>
                <a:latin typeface="等线" panose="02010600030101010101" pitchFamily="2" charset="-122"/>
                <a:ea typeface="等线" panose="02010600030101010101" pitchFamily="2" charset="-122"/>
                <a:cs typeface="Arial" panose="020B0604020202020204" pitchFamily="34" charset="0"/>
              </a:rPr>
              <a:t>Google_player_scraper</a:t>
            </a:r>
            <a:r>
              <a:rPr lang="en-US" sz="1800" dirty="0">
                <a:solidFill>
                  <a:srgbClr val="202124"/>
                </a:solidFill>
                <a:effectLst/>
                <a:latin typeface="等线" panose="02010600030101010101" pitchFamily="2" charset="-122"/>
                <a:ea typeface="等线" panose="02010600030101010101" pitchFamily="2" charset="-122"/>
                <a:cs typeface="Arial" panose="020B0604020202020204" pitchFamily="34" charset="0"/>
              </a:rPr>
              <a:t>”</a:t>
            </a:r>
            <a:r>
              <a:rPr lang="en-US" sz="1800" dirty="0">
                <a:effectLst/>
                <a:latin typeface="等线" panose="02010600030101010101" pitchFamily="2" charset="-122"/>
                <a:ea typeface="等线" panose="02010600030101010101" pitchFamily="2" charset="-122"/>
                <a:cs typeface="Arial" panose="020B0604020202020204" pitchFamily="34" charset="0"/>
              </a:rPr>
              <a:t> to scrape the reviews data on google play.</a:t>
            </a:r>
          </a:p>
          <a:p>
            <a:pPr marL="158750" indent="0" algn="just">
              <a:lnSpc>
                <a:spcPct val="107000"/>
              </a:lnSpc>
              <a:spcAft>
                <a:spcPts val="800"/>
              </a:spcAft>
              <a:buNone/>
            </a:pPr>
            <a:r>
              <a:rPr lang="en-US" sz="1800" dirty="0">
                <a:solidFill>
                  <a:srgbClr val="202124"/>
                </a:solidFill>
                <a:effectLst/>
                <a:latin typeface="等线" panose="02010600030101010101" pitchFamily="2" charset="-122"/>
                <a:ea typeface="等线" panose="02010600030101010101" pitchFamily="2" charset="-122"/>
                <a:cs typeface="Arial" panose="020B0604020202020204" pitchFamily="34" charset="0"/>
              </a:rPr>
              <a:t> </a:t>
            </a:r>
            <a:endParaRPr lang="en-US" sz="1800" dirty="0">
              <a:solidFill>
                <a:srgbClr val="000000"/>
              </a:solidFill>
              <a:effectLst/>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r>
              <a:rPr lang="en-US" sz="1800" dirty="0">
                <a:solidFill>
                  <a:srgbClr val="202124"/>
                </a:solidFill>
                <a:effectLst/>
                <a:latin typeface="Times New Roman" panose="02020603050405020304" pitchFamily="18" charset="0"/>
                <a:ea typeface="Times New Roman" panose="02020603050405020304" pitchFamily="18" charset="0"/>
              </a:rPr>
              <a:t>The dataset contains 12 variables that show the details of those reviews. There are 10 categorical variables like </a:t>
            </a:r>
            <a:r>
              <a:rPr lang="en-US" sz="1800" dirty="0" err="1">
                <a:solidFill>
                  <a:srgbClr val="202124"/>
                </a:solidFill>
                <a:effectLst/>
                <a:latin typeface="Times New Roman" panose="02020603050405020304" pitchFamily="18" charset="0"/>
                <a:ea typeface="Times New Roman" panose="02020603050405020304" pitchFamily="18" charset="0"/>
              </a:rPr>
              <a:t>reviewId</a:t>
            </a:r>
            <a:r>
              <a:rPr lang="en-US" sz="1800" dirty="0">
                <a:solidFill>
                  <a:srgbClr val="202124"/>
                </a:solidFill>
                <a:effectLst/>
                <a:latin typeface="Times New Roman" panose="02020603050405020304" pitchFamily="18" charset="0"/>
                <a:ea typeface="Times New Roman" panose="02020603050405020304" pitchFamily="18" charset="0"/>
              </a:rPr>
              <a:t>, </a:t>
            </a:r>
            <a:r>
              <a:rPr lang="en-US" sz="1800" dirty="0" err="1">
                <a:solidFill>
                  <a:srgbClr val="202124"/>
                </a:solidFill>
                <a:effectLst/>
                <a:latin typeface="Times New Roman" panose="02020603050405020304" pitchFamily="18" charset="0"/>
                <a:ea typeface="Times New Roman" panose="02020603050405020304" pitchFamily="18" charset="0"/>
              </a:rPr>
              <a:t>userName</a:t>
            </a:r>
            <a:r>
              <a:rPr lang="en-US" sz="1800" dirty="0">
                <a:solidFill>
                  <a:srgbClr val="202124"/>
                </a:solidFill>
                <a:effectLst/>
                <a:latin typeface="Times New Roman" panose="02020603050405020304" pitchFamily="18" charset="0"/>
                <a:ea typeface="Times New Roman" panose="02020603050405020304" pitchFamily="18" charset="0"/>
              </a:rPr>
              <a:t>, </a:t>
            </a:r>
            <a:r>
              <a:rPr lang="en-US" sz="1800" dirty="0" err="1">
                <a:solidFill>
                  <a:srgbClr val="202124"/>
                </a:solidFill>
                <a:effectLst/>
                <a:latin typeface="Times New Roman" panose="02020603050405020304" pitchFamily="18" charset="0"/>
                <a:ea typeface="Times New Roman" panose="02020603050405020304" pitchFamily="18" charset="0"/>
              </a:rPr>
              <a:t>userImage</a:t>
            </a:r>
            <a:r>
              <a:rPr lang="en-US" sz="1800" dirty="0">
                <a:solidFill>
                  <a:srgbClr val="202124"/>
                </a:solidFill>
                <a:effectLst/>
                <a:latin typeface="Times New Roman" panose="02020603050405020304" pitchFamily="18" charset="0"/>
                <a:ea typeface="Times New Roman" panose="02020603050405020304" pitchFamily="18" charset="0"/>
              </a:rPr>
              <a:t>, Content, and </a:t>
            </a:r>
            <a:r>
              <a:rPr lang="en-US" sz="1800" dirty="0" err="1">
                <a:solidFill>
                  <a:srgbClr val="202124"/>
                </a:solidFill>
                <a:effectLst/>
                <a:latin typeface="Times New Roman" panose="02020603050405020304" pitchFamily="18" charset="0"/>
                <a:ea typeface="Times New Roman" panose="02020603050405020304" pitchFamily="18" charset="0"/>
              </a:rPr>
              <a:t>appId</a:t>
            </a:r>
            <a:r>
              <a:rPr lang="en-US" sz="1800" dirty="0">
                <a:solidFill>
                  <a:srgbClr val="202124"/>
                </a:solidFill>
                <a:effectLst/>
                <a:latin typeface="Times New Roman" panose="02020603050405020304" pitchFamily="18" charset="0"/>
                <a:ea typeface="Times New Roman" panose="02020603050405020304" pitchFamily="18" charset="0"/>
              </a:rPr>
              <a:t>. There are 2 numerical variables in the dataset, which are Score and </a:t>
            </a:r>
            <a:r>
              <a:rPr lang="en-US" sz="1800" dirty="0" err="1">
                <a:solidFill>
                  <a:srgbClr val="202124"/>
                </a:solidFill>
                <a:effectLst/>
                <a:latin typeface="Times New Roman" panose="02020603050405020304" pitchFamily="18" charset="0"/>
                <a:ea typeface="Times New Roman" panose="02020603050405020304" pitchFamily="18" charset="0"/>
              </a:rPr>
              <a:t>thumbsUpCount</a:t>
            </a:r>
            <a:r>
              <a:rPr lang="en-US" sz="1800" dirty="0">
                <a:solidFill>
                  <a:srgbClr val="202124"/>
                </a:solidFill>
                <a:effectLst/>
                <a:latin typeface="Times New Roman" panose="02020603050405020304" pitchFamily="18" charset="0"/>
                <a:ea typeface="Times New Roman" panose="02020603050405020304" pitchFamily="18" charset="0"/>
              </a:rPr>
              <a:t>. </a:t>
            </a:r>
          </a:p>
          <a:p>
            <a:pPr algn="just">
              <a:lnSpc>
                <a:spcPct val="107000"/>
              </a:lnSpc>
              <a:spcAft>
                <a:spcPts val="800"/>
              </a:spcAft>
            </a:pPr>
            <a:endParaRPr lang="en-US" sz="1800" dirty="0">
              <a:solidFill>
                <a:srgbClr val="202124"/>
              </a:solidFill>
              <a:effectLst/>
              <a:latin typeface="Times New Roman" panose="02020603050405020304" pitchFamily="18" charset="0"/>
              <a:ea typeface="Times New Roman" panose="02020603050405020304" pitchFamily="18" charset="0"/>
            </a:endParaRPr>
          </a:p>
          <a:p>
            <a:pPr algn="just">
              <a:lnSpc>
                <a:spcPct val="107000"/>
              </a:lnSpc>
              <a:spcAft>
                <a:spcPts val="800"/>
              </a:spcAft>
            </a:pPr>
            <a:r>
              <a:rPr lang="en-US" sz="1800" dirty="0">
                <a:solidFill>
                  <a:srgbClr val="202124"/>
                </a:solidFill>
                <a:effectLst/>
                <a:latin typeface="Times New Roman" panose="02020603050405020304" pitchFamily="18" charset="0"/>
                <a:ea typeface="Times New Roman" panose="02020603050405020304" pitchFamily="18" charset="0"/>
              </a:rPr>
              <a:t>Before we conducted the analysis on google play reviews, we had to start with cleaning the dataset. </a:t>
            </a:r>
            <a:endParaRPr lang="en-US" sz="180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2f4c43d3b0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12f4c43d3b0_1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200000"/>
              </a:lnSpc>
              <a:spcBef>
                <a:spcPts val="900"/>
              </a:spcBef>
              <a:spcAft>
                <a:spcPts val="900"/>
              </a:spcAft>
            </a:pPr>
            <a:r>
              <a:rPr lang="en-US" sz="1800" dirty="0">
                <a:solidFill>
                  <a:srgbClr val="202124"/>
                </a:solidFill>
                <a:effectLst/>
                <a:latin typeface="Times New Roman" panose="02020603050405020304" pitchFamily="18" charset="0"/>
                <a:ea typeface="Times New Roman" panose="02020603050405020304" pitchFamily="18" charset="0"/>
              </a:rPr>
              <a:t>In this sentimental analysis, we only need two attributes</a:t>
            </a:r>
            <a:r>
              <a:rPr lang="en-US" sz="1800" dirty="0">
                <a:effectLst/>
                <a:latin typeface="Times New Roman" panose="02020603050405020304" pitchFamily="18" charset="0"/>
                <a:ea typeface="Times New Roman" panose="02020603050405020304" pitchFamily="18" charset="0"/>
              </a:rPr>
              <a:t>, so that we keep the “content” and “score” </a:t>
            </a:r>
          </a:p>
          <a:p>
            <a:pPr>
              <a:lnSpc>
                <a:spcPct val="200000"/>
              </a:lnSpc>
              <a:spcBef>
                <a:spcPts val="900"/>
              </a:spcBef>
              <a:spcAft>
                <a:spcPts val="900"/>
              </a:spcAft>
            </a:pPr>
            <a:endParaRPr lang="en-US" sz="1800" dirty="0">
              <a:solidFill>
                <a:srgbClr val="202124"/>
              </a:solidFill>
              <a:effectLst/>
              <a:latin typeface="Times New Roman" panose="02020603050405020304" pitchFamily="18" charset="0"/>
              <a:ea typeface="Times New Roman" panose="02020603050405020304" pitchFamily="18" charset="0"/>
            </a:endParaRPr>
          </a:p>
          <a:p>
            <a:pPr>
              <a:lnSpc>
                <a:spcPct val="200000"/>
              </a:lnSpc>
              <a:spcBef>
                <a:spcPts val="900"/>
              </a:spcBef>
              <a:spcAft>
                <a:spcPts val="900"/>
              </a:spcAft>
            </a:pPr>
            <a:r>
              <a:rPr lang="en-US" sz="1800" dirty="0">
                <a:solidFill>
                  <a:srgbClr val="202124"/>
                </a:solidFill>
                <a:effectLst/>
                <a:latin typeface="Times New Roman" panose="02020603050405020304" pitchFamily="18" charset="0"/>
                <a:ea typeface="Times New Roman" panose="02020603050405020304" pitchFamily="18" charset="0"/>
              </a:rPr>
              <a:t>The “content” column contains all the reviews people left for each application, and the “score” column contains the ratings for each app on the platform, and they range from 1 to 5.</a:t>
            </a:r>
            <a:endParaRPr lang="en-US" sz="1800" b="0" i="0" u="none" strike="noStrike" dirty="0">
              <a:solidFill>
                <a:srgbClr val="000000"/>
              </a:solidFill>
              <a:effectLst/>
              <a:latin typeface="Times New Roman" panose="02020603050405020304" pitchFamily="18" charset="0"/>
              <a:ea typeface="Times New Roman" panose="02020603050405020304" pitchFamily="18" charset="0"/>
            </a:endParaRPr>
          </a:p>
          <a:p>
            <a:pPr>
              <a:lnSpc>
                <a:spcPct val="200000"/>
              </a:lnSpc>
              <a:spcBef>
                <a:spcPts val="900"/>
              </a:spcBef>
              <a:spcAft>
                <a:spcPts val="900"/>
              </a:spcAft>
            </a:pPr>
            <a:endParaRPr lang="en-US" sz="1800" b="0" i="0" u="none" strike="noStrike" dirty="0">
              <a:solidFill>
                <a:srgbClr val="000000"/>
              </a:solidFill>
              <a:effectLst/>
              <a:latin typeface="Times New Roman" panose="02020603050405020304" pitchFamily="18" charset="0"/>
            </a:endParaRPr>
          </a:p>
          <a:p>
            <a:pPr marL="457200" marR="0" lvl="0" indent="-298450" algn="l" defTabSz="914400" rtl="0" eaLnBrk="1" fontAlgn="auto" latinLnBrk="0" hangingPunct="1">
              <a:lnSpc>
                <a:spcPct val="200000"/>
              </a:lnSpc>
              <a:spcBef>
                <a:spcPts val="900"/>
              </a:spcBef>
              <a:spcAft>
                <a:spcPts val="900"/>
              </a:spcAft>
              <a:buClr>
                <a:srgbClr val="000000"/>
              </a:buClr>
              <a:buSzPts val="1100"/>
              <a:buFont typeface="Arial"/>
              <a:buChar char="●"/>
              <a:tabLst/>
              <a:defRPr/>
            </a:pPr>
            <a:r>
              <a:rPr lang="en-US" sz="1800" b="0" i="0" u="none" strike="noStrike" dirty="0">
                <a:solidFill>
                  <a:srgbClr val="202124"/>
                </a:solidFill>
                <a:effectLst/>
                <a:latin typeface="Times New Roman" panose="02020603050405020304" pitchFamily="18" charset="0"/>
              </a:rPr>
              <a:t>The photo shows the data after we </a:t>
            </a:r>
            <a:r>
              <a:rPr lang="en-US" sz="1100" dirty="0"/>
              <a:t>Removed irrelevant attributes and Kept the necessary data.</a:t>
            </a:r>
          </a:p>
          <a:p>
            <a:pPr>
              <a:lnSpc>
                <a:spcPct val="200000"/>
              </a:lnSpc>
              <a:spcBef>
                <a:spcPts val="900"/>
              </a:spcBef>
              <a:spcAft>
                <a:spcPts val="900"/>
              </a:spcAft>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2f240f2fb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2f240f2fb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is about the steps of approach for our project. </a:t>
            </a:r>
            <a:endParaRPr dirty="0"/>
          </a:p>
        </p:txBody>
      </p:sp>
    </p:spTree>
    <p:extLst>
      <p:ext uri="{BB962C8B-B14F-4D97-AF65-F5344CB8AC3E}">
        <p14:creationId xmlns:p14="http://schemas.microsoft.com/office/powerpoint/2010/main" val="2869887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12f240f2fb0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12f240f2fb0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200000"/>
              </a:lnSpc>
              <a:spcBef>
                <a:spcPts val="0"/>
              </a:spcBef>
              <a:spcAft>
                <a:spcPts val="0"/>
              </a:spcAft>
              <a:buNone/>
            </a:pPr>
            <a:r>
              <a:rPr lang="en" sz="1200" dirty="0">
                <a:solidFill>
                  <a:srgbClr val="202124"/>
                </a:solidFill>
                <a:latin typeface="Times New Roman"/>
                <a:ea typeface="Times New Roman"/>
                <a:cs typeface="Times New Roman"/>
                <a:sym typeface="Times New Roman"/>
              </a:rPr>
              <a:t>In order to approach our final goal which presents value advice to the readers. We process through 4 major steps to analyze the Google data. The 4 steps are </a:t>
            </a:r>
            <a:endParaRPr sz="1200" dirty="0">
              <a:solidFill>
                <a:srgbClr val="202124"/>
              </a:solidFill>
              <a:latin typeface="Times New Roman"/>
              <a:ea typeface="Times New Roman"/>
              <a:cs typeface="Times New Roman"/>
              <a:sym typeface="Times New Roman"/>
            </a:endParaRPr>
          </a:p>
          <a:p>
            <a:pPr marL="0" lvl="0" indent="0" algn="just" rtl="0">
              <a:lnSpc>
                <a:spcPct val="200000"/>
              </a:lnSpc>
              <a:spcBef>
                <a:spcPts val="0"/>
              </a:spcBef>
              <a:spcAft>
                <a:spcPts val="0"/>
              </a:spcAft>
              <a:buNone/>
            </a:pPr>
            <a:r>
              <a:rPr lang="en" sz="1200" dirty="0">
                <a:solidFill>
                  <a:srgbClr val="202124"/>
                </a:solidFill>
                <a:latin typeface="Times New Roman"/>
                <a:ea typeface="Times New Roman"/>
                <a:cs typeface="Times New Roman"/>
                <a:sym typeface="Times New Roman"/>
              </a:rPr>
              <a:t>Text Preprocessing, </a:t>
            </a:r>
            <a:endParaRPr sz="1200" dirty="0">
              <a:solidFill>
                <a:srgbClr val="202124"/>
              </a:solidFill>
              <a:latin typeface="Times New Roman"/>
              <a:ea typeface="Times New Roman"/>
              <a:cs typeface="Times New Roman"/>
              <a:sym typeface="Times New Roman"/>
            </a:endParaRPr>
          </a:p>
          <a:p>
            <a:pPr marL="0" lvl="0" indent="0" algn="just" rtl="0">
              <a:lnSpc>
                <a:spcPct val="200000"/>
              </a:lnSpc>
              <a:spcBef>
                <a:spcPts val="0"/>
              </a:spcBef>
              <a:spcAft>
                <a:spcPts val="0"/>
              </a:spcAft>
              <a:buNone/>
            </a:pPr>
            <a:r>
              <a:rPr lang="en" sz="1200" dirty="0">
                <a:solidFill>
                  <a:srgbClr val="202124"/>
                </a:solidFill>
                <a:latin typeface="Times New Roman"/>
                <a:ea typeface="Times New Roman"/>
                <a:cs typeface="Times New Roman"/>
                <a:sym typeface="Times New Roman"/>
              </a:rPr>
              <a:t>Text Visualization, </a:t>
            </a:r>
            <a:endParaRPr sz="1200" dirty="0">
              <a:solidFill>
                <a:srgbClr val="202124"/>
              </a:solidFill>
              <a:latin typeface="Times New Roman"/>
              <a:ea typeface="Times New Roman"/>
              <a:cs typeface="Times New Roman"/>
              <a:sym typeface="Times New Roman"/>
            </a:endParaRPr>
          </a:p>
          <a:p>
            <a:pPr marL="0" lvl="0" indent="0" algn="just" rtl="0">
              <a:lnSpc>
                <a:spcPct val="200000"/>
              </a:lnSpc>
              <a:spcBef>
                <a:spcPts val="0"/>
              </a:spcBef>
              <a:spcAft>
                <a:spcPts val="0"/>
              </a:spcAft>
              <a:buNone/>
            </a:pPr>
            <a:r>
              <a:rPr lang="en" sz="1200" dirty="0">
                <a:solidFill>
                  <a:srgbClr val="202124"/>
                </a:solidFill>
                <a:latin typeface="Times New Roman"/>
                <a:ea typeface="Times New Roman"/>
                <a:cs typeface="Times New Roman"/>
                <a:sym typeface="Times New Roman"/>
              </a:rPr>
              <a:t>Sentiment Analysis, </a:t>
            </a:r>
            <a:endParaRPr sz="1200" dirty="0">
              <a:solidFill>
                <a:srgbClr val="202124"/>
              </a:solidFill>
              <a:latin typeface="Times New Roman"/>
              <a:ea typeface="Times New Roman"/>
              <a:cs typeface="Times New Roman"/>
              <a:sym typeface="Times New Roman"/>
            </a:endParaRPr>
          </a:p>
          <a:p>
            <a:pPr marL="0" lvl="0" indent="0" algn="just" rtl="0">
              <a:lnSpc>
                <a:spcPct val="200000"/>
              </a:lnSpc>
              <a:spcBef>
                <a:spcPts val="0"/>
              </a:spcBef>
              <a:spcAft>
                <a:spcPts val="0"/>
              </a:spcAft>
              <a:buClr>
                <a:schemeClr val="dk1"/>
              </a:buClr>
              <a:buSzPts val="1100"/>
              <a:buFont typeface="Arial"/>
              <a:buNone/>
            </a:pPr>
            <a:r>
              <a:rPr lang="en" sz="1200" dirty="0">
                <a:solidFill>
                  <a:srgbClr val="202124"/>
                </a:solidFill>
                <a:latin typeface="Times New Roman"/>
                <a:ea typeface="Times New Roman"/>
                <a:cs typeface="Times New Roman"/>
                <a:sym typeface="Times New Roman"/>
              </a:rPr>
              <a:t>and Sentiment Modeling.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32967f57e3_3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132967f57e3_3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200000"/>
              </a:lnSpc>
              <a:spcBef>
                <a:spcPts val="0"/>
              </a:spcBef>
              <a:spcAft>
                <a:spcPts val="0"/>
              </a:spcAft>
              <a:buClr>
                <a:schemeClr val="dk1"/>
              </a:buClr>
              <a:buSzPts val="1100"/>
              <a:buFont typeface="Arial"/>
              <a:buNone/>
            </a:pPr>
            <a:r>
              <a:rPr lang="en" sz="1200" dirty="0">
                <a:solidFill>
                  <a:srgbClr val="202124"/>
                </a:solidFill>
                <a:latin typeface="Times New Roman"/>
                <a:ea typeface="Times New Roman"/>
                <a:cs typeface="Times New Roman"/>
                <a:sym typeface="Times New Roman"/>
              </a:rPr>
              <a:t>First of all, we standardize all letters in which we convert all words into the lower case.</a:t>
            </a:r>
          </a:p>
          <a:p>
            <a:pPr marL="0" lvl="0" indent="0" algn="just" rtl="0">
              <a:lnSpc>
                <a:spcPct val="200000"/>
              </a:lnSpc>
              <a:spcBef>
                <a:spcPts val="0"/>
              </a:spcBef>
              <a:spcAft>
                <a:spcPts val="0"/>
              </a:spcAft>
              <a:buClr>
                <a:schemeClr val="dk1"/>
              </a:buClr>
              <a:buSzPts val="1100"/>
              <a:buFont typeface="Arial"/>
              <a:buNone/>
            </a:pPr>
            <a:endParaRPr lang="en" sz="1200" dirty="0">
              <a:solidFill>
                <a:srgbClr val="202124"/>
              </a:solidFill>
              <a:latin typeface="Times New Roman"/>
              <a:cs typeface="Times New Roman"/>
              <a:sym typeface="Times New Roman"/>
            </a:endParaRPr>
          </a:p>
          <a:p>
            <a:pPr marL="0" lvl="0" indent="0" algn="just" rtl="0">
              <a:lnSpc>
                <a:spcPct val="200000"/>
              </a:lnSpc>
              <a:spcBef>
                <a:spcPts val="0"/>
              </a:spcBef>
              <a:spcAft>
                <a:spcPts val="0"/>
              </a:spcAft>
              <a:buClr>
                <a:schemeClr val="dk1"/>
              </a:buClr>
              <a:buSzPts val="1100"/>
              <a:buFont typeface="Arial"/>
              <a:buNone/>
            </a:pPr>
            <a:r>
              <a:rPr lang="en-US" sz="1200" dirty="0">
                <a:solidFill>
                  <a:srgbClr val="202124"/>
                </a:solidFill>
                <a:latin typeface="Times New Roman"/>
                <a:cs typeface="Times New Roman"/>
                <a:sym typeface="Times New Roman"/>
              </a:rPr>
              <a:t>A</a:t>
            </a:r>
            <a:r>
              <a:rPr lang="en" sz="1200" dirty="0">
                <a:solidFill>
                  <a:srgbClr val="202124"/>
                </a:solidFill>
                <a:latin typeface="Times New Roman"/>
                <a:cs typeface="Times New Roman"/>
                <a:sym typeface="Times New Roman"/>
              </a:rPr>
              <a:t>fter that we </a:t>
            </a:r>
            <a:r>
              <a:rPr lang="en-US" sz="1800" b="0" i="0" u="none" strike="noStrike" dirty="0">
                <a:solidFill>
                  <a:srgbClr val="202124"/>
                </a:solidFill>
                <a:effectLst/>
                <a:latin typeface="Times New Roman" panose="02020603050405020304" pitchFamily="18" charset="0"/>
              </a:rPr>
              <a:t>Removed all the punctuation marks since that could affect the results of any text processing approach.</a:t>
            </a:r>
            <a:endParaRPr lang="en-US" sz="3200" b="0" dirty="0">
              <a:effectLst/>
            </a:endParaRPr>
          </a:p>
          <a:p>
            <a:pPr marL="0" lvl="0" indent="0" algn="just" rtl="0">
              <a:lnSpc>
                <a:spcPct val="200000"/>
              </a:lnSpc>
              <a:spcBef>
                <a:spcPts val="0"/>
              </a:spcBef>
              <a:spcAft>
                <a:spcPts val="0"/>
              </a:spcAft>
              <a:buClr>
                <a:schemeClr val="dk1"/>
              </a:buClr>
              <a:buSzPts val="1100"/>
              <a:buFont typeface="Arial"/>
              <a:buNone/>
            </a:pPr>
            <a:endParaRPr lang="en-US" sz="1800" b="0" i="0" u="none" strike="noStrike" dirty="0">
              <a:solidFill>
                <a:srgbClr val="202124"/>
              </a:solidFill>
              <a:effectLst/>
              <a:latin typeface="Times New Roman" panose="02020603050405020304" pitchFamily="18" charset="0"/>
            </a:endParaRPr>
          </a:p>
          <a:p>
            <a:pPr marL="0" lvl="0" indent="0" algn="just" rtl="0">
              <a:lnSpc>
                <a:spcPct val="200000"/>
              </a:lnSpc>
              <a:spcBef>
                <a:spcPts val="0"/>
              </a:spcBef>
              <a:spcAft>
                <a:spcPts val="0"/>
              </a:spcAft>
              <a:buClr>
                <a:schemeClr val="dk1"/>
              </a:buClr>
              <a:buSzPts val="1100"/>
              <a:buFont typeface="Arial"/>
              <a:buNone/>
            </a:pPr>
            <a:r>
              <a:rPr lang="en-US" sz="1800" b="0" i="0" u="none" strike="noStrike" dirty="0">
                <a:solidFill>
                  <a:srgbClr val="202124"/>
                </a:solidFill>
                <a:effectLst/>
                <a:latin typeface="Times New Roman" panose="02020603050405020304" pitchFamily="18" charset="0"/>
              </a:rPr>
              <a:t>And Sama as the punctuation the numbers in the text would affect the text processing results as well, so we convert numbers into words. </a:t>
            </a:r>
          </a:p>
          <a:p>
            <a:pPr marL="0" lvl="0" indent="0" algn="just" rtl="0">
              <a:lnSpc>
                <a:spcPct val="200000"/>
              </a:lnSpc>
              <a:spcBef>
                <a:spcPts val="0"/>
              </a:spcBef>
              <a:spcAft>
                <a:spcPts val="0"/>
              </a:spcAft>
              <a:buClr>
                <a:schemeClr val="dk1"/>
              </a:buClr>
              <a:buSzPts val="1100"/>
              <a:buFont typeface="Arial"/>
              <a:buNone/>
            </a:pPr>
            <a:endParaRPr lang="en-US" sz="1800" b="0" i="0" u="none" strike="noStrike" dirty="0">
              <a:solidFill>
                <a:srgbClr val="202124"/>
              </a:solidFill>
              <a:effectLst/>
              <a:latin typeface="Times New Roman" panose="02020603050405020304" pitchFamily="18" charset="0"/>
            </a:endParaRPr>
          </a:p>
          <a:p>
            <a:pPr marL="0" lvl="0" indent="0" algn="just" rtl="0">
              <a:lnSpc>
                <a:spcPct val="200000"/>
              </a:lnSpc>
              <a:spcBef>
                <a:spcPts val="0"/>
              </a:spcBef>
              <a:spcAft>
                <a:spcPts val="0"/>
              </a:spcAft>
              <a:buClr>
                <a:schemeClr val="dk1"/>
              </a:buClr>
              <a:buSzPts val="1100"/>
              <a:buFont typeface="Arial"/>
              <a:buNone/>
            </a:pPr>
            <a:r>
              <a:rPr lang="en-US" sz="1800" b="0" i="0" u="none" strike="noStrike" dirty="0">
                <a:solidFill>
                  <a:srgbClr val="202124"/>
                </a:solidFill>
                <a:effectLst/>
                <a:latin typeface="Times New Roman" panose="02020603050405020304" pitchFamily="18" charset="0"/>
              </a:rPr>
              <a:t>The picture show what will change after those 3 steps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32967f57e3_3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132967f57e3_3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200000"/>
              </a:lnSpc>
              <a:spcBef>
                <a:spcPts val="0"/>
              </a:spcBef>
              <a:spcAft>
                <a:spcPts val="0"/>
              </a:spcAft>
              <a:buNone/>
            </a:pPr>
            <a:r>
              <a:rPr lang="en-US" sz="1200" dirty="0">
                <a:solidFill>
                  <a:srgbClr val="202124"/>
                </a:solidFill>
                <a:latin typeface="Times New Roman"/>
                <a:ea typeface="Times New Roman"/>
                <a:cs typeface="Times New Roman"/>
                <a:sym typeface="Times New Roman"/>
              </a:rPr>
              <a:t>I</a:t>
            </a:r>
            <a:r>
              <a:rPr lang="en" sz="1200" dirty="0">
                <a:solidFill>
                  <a:srgbClr val="202124"/>
                </a:solidFill>
                <a:latin typeface="Times New Roman"/>
                <a:ea typeface="Times New Roman"/>
                <a:cs typeface="Times New Roman"/>
                <a:sym typeface="Times New Roman"/>
              </a:rPr>
              <a:t>n our sencond part for the text preprocesing, we set the english as the stopwords </a:t>
            </a:r>
          </a:p>
          <a:p>
            <a:pPr marL="0" lvl="0" indent="0" algn="just" rtl="0">
              <a:lnSpc>
                <a:spcPct val="200000"/>
              </a:lnSpc>
              <a:spcBef>
                <a:spcPts val="0"/>
              </a:spcBef>
              <a:spcAft>
                <a:spcPts val="0"/>
              </a:spcAft>
              <a:buNone/>
            </a:pPr>
            <a:endParaRPr lang="en" sz="1200" dirty="0">
              <a:solidFill>
                <a:srgbClr val="202124"/>
              </a:solidFill>
              <a:latin typeface="Times New Roman"/>
              <a:cs typeface="Times New Roman"/>
              <a:sym typeface="Times New Roman"/>
            </a:endParaRPr>
          </a:p>
          <a:p>
            <a:pPr marL="0" lvl="0" indent="0" algn="just" rtl="0">
              <a:lnSpc>
                <a:spcPct val="200000"/>
              </a:lnSpc>
              <a:spcBef>
                <a:spcPts val="0"/>
              </a:spcBef>
              <a:spcAft>
                <a:spcPts val="0"/>
              </a:spcAft>
              <a:buNone/>
            </a:pPr>
            <a:r>
              <a:rPr lang="en-US" sz="1200" dirty="0">
                <a:solidFill>
                  <a:srgbClr val="202124"/>
                </a:solidFill>
                <a:latin typeface="Times New Roman"/>
                <a:cs typeface="Times New Roman"/>
                <a:sym typeface="Times New Roman"/>
              </a:rPr>
              <a:t>A</a:t>
            </a:r>
            <a:r>
              <a:rPr lang="en" sz="1200" dirty="0">
                <a:solidFill>
                  <a:srgbClr val="202124"/>
                </a:solidFill>
                <a:latin typeface="Times New Roman"/>
                <a:cs typeface="Times New Roman"/>
                <a:sym typeface="Times New Roman"/>
              </a:rPr>
              <a:t>nd remove the rarewords in the content </a:t>
            </a:r>
          </a:p>
          <a:p>
            <a:pPr marL="0" lvl="0" indent="0" algn="just" rtl="0">
              <a:lnSpc>
                <a:spcPct val="200000"/>
              </a:lnSpc>
              <a:spcBef>
                <a:spcPts val="0"/>
              </a:spcBef>
              <a:spcAft>
                <a:spcPts val="0"/>
              </a:spcAft>
              <a:buNone/>
            </a:pPr>
            <a:endParaRPr lang="en" sz="1200" dirty="0">
              <a:solidFill>
                <a:srgbClr val="202124"/>
              </a:solidFill>
              <a:latin typeface="Times New Roman"/>
              <a:cs typeface="Times New Roman"/>
              <a:sym typeface="Times New Roman"/>
            </a:endParaRPr>
          </a:p>
          <a:p>
            <a:pPr marL="0" lvl="0" indent="0" algn="just" rtl="0">
              <a:lnSpc>
                <a:spcPct val="200000"/>
              </a:lnSpc>
              <a:spcBef>
                <a:spcPts val="0"/>
              </a:spcBef>
              <a:spcAft>
                <a:spcPts val="0"/>
              </a:spcAft>
              <a:buNone/>
            </a:pPr>
            <a:r>
              <a:rPr lang="en-US" sz="1200" dirty="0">
                <a:solidFill>
                  <a:srgbClr val="202124"/>
                </a:solidFill>
                <a:latin typeface="Times New Roman"/>
                <a:cs typeface="Times New Roman"/>
                <a:sym typeface="Times New Roman"/>
              </a:rPr>
              <a:t>Also,</a:t>
            </a:r>
            <a:r>
              <a:rPr lang="en" sz="1200" dirty="0">
                <a:solidFill>
                  <a:srgbClr val="202124"/>
                </a:solidFill>
                <a:latin typeface="Times New Roman"/>
                <a:cs typeface="Times New Roman"/>
                <a:sym typeface="Times New Roman"/>
              </a:rPr>
              <a:t> processces the tokenization and the lemmatization.  </a:t>
            </a:r>
          </a:p>
          <a:p>
            <a:pPr marL="0" lvl="0" indent="0" algn="just" rtl="0">
              <a:lnSpc>
                <a:spcPct val="200000"/>
              </a:lnSpc>
              <a:spcBef>
                <a:spcPts val="0"/>
              </a:spcBef>
              <a:spcAft>
                <a:spcPts val="0"/>
              </a:spcAft>
              <a:buNone/>
            </a:pPr>
            <a:endParaRPr lang="en" sz="1200" dirty="0">
              <a:solidFill>
                <a:srgbClr val="202124"/>
              </a:solidFill>
              <a:latin typeface="Times New Roman"/>
              <a:cs typeface="Times New Roman"/>
              <a:sym typeface="Times New Roman"/>
            </a:endParaRPr>
          </a:p>
          <a:p>
            <a:pPr marL="0" lvl="0" indent="0" algn="just" rtl="0">
              <a:lnSpc>
                <a:spcPct val="200000"/>
              </a:lnSpc>
              <a:spcBef>
                <a:spcPts val="0"/>
              </a:spcBef>
              <a:spcAft>
                <a:spcPts val="0"/>
              </a:spcAft>
              <a:buNone/>
            </a:pPr>
            <a:r>
              <a:rPr lang="en-US" sz="1200" dirty="0">
                <a:solidFill>
                  <a:srgbClr val="202124"/>
                </a:solidFill>
                <a:latin typeface="Times New Roman"/>
                <a:cs typeface="Times New Roman"/>
                <a:sym typeface="Times New Roman"/>
              </a:rPr>
              <a:t>T</a:t>
            </a:r>
            <a:r>
              <a:rPr lang="en" sz="1200" dirty="0">
                <a:solidFill>
                  <a:srgbClr val="202124"/>
                </a:solidFill>
                <a:latin typeface="Times New Roman"/>
                <a:cs typeface="Times New Roman"/>
                <a:sym typeface="Times New Roman"/>
              </a:rPr>
              <a:t>he photo show the reuslt after the processed the </a:t>
            </a:r>
            <a:r>
              <a:rPr lang="en" sz="1100" dirty="0">
                <a:solidFill>
                  <a:srgbClr val="202124"/>
                </a:solidFill>
                <a:latin typeface="Times New Roman"/>
                <a:cs typeface="Times New Roman"/>
                <a:sym typeface="Times New Roman"/>
              </a:rPr>
              <a:t>tokenization. </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32967f57e3_3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132967f57e3_3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this text visualization part, we first </a:t>
            </a:r>
            <a:r>
              <a:rPr lang="en-US" sz="1800" b="0" i="0" u="none" strike="noStrike" dirty="0">
                <a:solidFill>
                  <a:srgbClr val="202124"/>
                </a:solidFill>
                <a:effectLst/>
                <a:latin typeface="Times New Roman" panose="02020603050405020304" pitchFamily="18" charset="0"/>
              </a:rPr>
              <a:t>calculate the Term Frequencies, to see what are the common words in the user reviews. </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the </a:t>
            </a:r>
            <a:r>
              <a:rPr lang="en-US" dirty="0" err="1"/>
              <a:t>barplot</a:t>
            </a:r>
            <a:r>
              <a:rPr lang="en-US" dirty="0"/>
              <a:t> shows the number one common word is </a:t>
            </a:r>
            <a:r>
              <a:rPr lang="en-US" b="1" dirty="0"/>
              <a:t>app</a:t>
            </a:r>
            <a:r>
              <a:rPr lang="en-US" dirty="0"/>
              <a:t>, and its frequencies is more than 10,000 times, the </a:t>
            </a:r>
            <a:r>
              <a:rPr lang="en-US" b="1" dirty="0"/>
              <a:t>task</a:t>
            </a:r>
            <a:r>
              <a:rPr lang="en-US" dirty="0"/>
              <a:t> is the second high frequencies which shows more than 4000 times, the third high frequencies is the </a:t>
            </a:r>
            <a:r>
              <a:rPr lang="en-US" b="1" dirty="0"/>
              <a:t>time</a:t>
            </a:r>
            <a:r>
              <a:rPr lang="en-US" dirty="0"/>
              <a:t>, it shows around 4000 times.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From the </a:t>
            </a:r>
            <a:r>
              <a:rPr lang="en-US" dirty="0" err="1"/>
              <a:t>wordcould</a:t>
            </a:r>
            <a:r>
              <a:rPr lang="en-US" dirty="0"/>
              <a:t> graph, we can be easy to see the app, task and time in the picture. </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32967f57e3_3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132967f57e3_3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600" dirty="0">
                <a:solidFill>
                  <a:schemeClr val="dk1"/>
                </a:solidFill>
                <a:latin typeface="Nunito"/>
                <a:ea typeface="Nunito"/>
                <a:cs typeface="Nunito"/>
                <a:sym typeface="Nunito"/>
              </a:rPr>
              <a:t>We used a package called sentiment intensity analyzer for the sentment analysis. With the feature “polarity score” function inside the package,  to analyze the emotion within the app review to try to determine if the app review is positive, negative, or neutral. For instance, if the review is like “film was awesome”, we will give negative score of 0, neutral score of 0.423, positive score of 0.577, which sums to the total score of 1. </a:t>
            </a:r>
            <a:endParaRPr sz="1600" dirty="0">
              <a:solidFill>
                <a:schemeClr val="dk1"/>
              </a:solidFill>
              <a:latin typeface="Nunito"/>
              <a:ea typeface="Nunito"/>
              <a:cs typeface="Nunito"/>
              <a:sym typeface="Nunito"/>
            </a:endParaRPr>
          </a:p>
          <a:p>
            <a:pPr marL="0" lvl="0" indent="0" algn="l" rtl="0">
              <a:spcBef>
                <a:spcPts val="0"/>
              </a:spcBef>
              <a:spcAft>
                <a:spcPts val="0"/>
              </a:spcAft>
              <a:buClr>
                <a:schemeClr val="dk1"/>
              </a:buClr>
              <a:buSzPts val="1100"/>
              <a:buFont typeface="Arial"/>
              <a:buNone/>
            </a:pPr>
            <a:endParaRPr lang="en" sz="1600" dirty="0">
              <a:solidFill>
                <a:schemeClr val="dk1"/>
              </a:solidFill>
              <a:latin typeface="Nunito"/>
              <a:ea typeface="Nunito"/>
              <a:cs typeface="Nunito"/>
              <a:sym typeface="Nunito"/>
            </a:endParaRPr>
          </a:p>
          <a:p>
            <a:pPr marL="0" lvl="0" indent="0" algn="l" rtl="0">
              <a:spcBef>
                <a:spcPts val="0"/>
              </a:spcBef>
              <a:spcAft>
                <a:spcPts val="0"/>
              </a:spcAft>
              <a:buClr>
                <a:schemeClr val="dk1"/>
              </a:buClr>
              <a:buSzPts val="1100"/>
              <a:buFont typeface="Arial"/>
              <a:buNone/>
            </a:pPr>
            <a:r>
              <a:rPr lang="en" sz="1600" dirty="0">
                <a:solidFill>
                  <a:schemeClr val="dk1"/>
                </a:solidFill>
                <a:latin typeface="Nunito"/>
                <a:ea typeface="Nunito"/>
                <a:cs typeface="Nunito"/>
                <a:sym typeface="Nunito"/>
              </a:rPr>
              <a:t>We use this function to get the compound score which aggregated score of the review, positive and negative, also we make them into columns for future use. </a:t>
            </a:r>
            <a:endParaRPr sz="1600" dirty="0">
              <a:solidFill>
                <a:schemeClr val="dk1"/>
              </a:solidFill>
              <a:latin typeface="Nunito"/>
              <a:ea typeface="Nunito"/>
              <a:cs typeface="Nunito"/>
              <a:sym typeface="Nunito"/>
            </a:endParaRP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132967f57e3_3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132967f57e3_3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this sentiment modeling part, We created a function for telling if numbers are larger than 0, it will return positive and if numbers are less than 0, it will return negative.  A new column named sentiment filled with positive and negative is created based on the compound value.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After have the sentiment modeling, we found out that there are 9297 positive review and 3655 negative reviews in the googles play,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Also, in the score we can found out that 2.25 or below can be determine the app </a:t>
            </a:r>
            <a:r>
              <a:rPr lang="en-US" altLang="zh-CN" dirty="0"/>
              <a:t>as not worth to download, and 3.43 or higher can be </a:t>
            </a:r>
            <a:r>
              <a:rPr lang="en-US" dirty="0"/>
              <a:t>determine </a:t>
            </a:r>
            <a:r>
              <a:rPr lang="en-US" altLang="zh-CN" dirty="0"/>
              <a:t>as worth to download.</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2f240f2fb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2f240f2fb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Peter will present next part for the models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98054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12f240f2fb0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12f240f2fb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32967f57e3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32967f57e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2f240f2fb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2f240f2fb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Caizhen will present.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5342634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12f240f2fb0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12f240f2fb0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rgbClr val="212529"/>
                </a:solidFill>
                <a:highlight>
                  <a:srgbClr val="F5F9FC"/>
                </a:highlight>
              </a:rPr>
              <a:t>People use irony and sarcasm on social media. The act of expressing negative sentiment using backhanded compliments can make it difficult for sentiment analysis tools to detect the true context of what the response is actually implying. This can often result in a higher volume of “positive” feedback that is actually negative.</a:t>
            </a:r>
            <a:endParaRPr sz="1350">
              <a:solidFill>
                <a:srgbClr val="212529"/>
              </a:solidFill>
              <a:highlight>
                <a:srgbClr val="F5F9FC"/>
              </a:highlight>
            </a:endParaRPr>
          </a:p>
          <a:p>
            <a:pPr marL="0" lvl="0" indent="0" algn="l" rtl="0">
              <a:spcBef>
                <a:spcPts val="0"/>
              </a:spcBef>
              <a:spcAft>
                <a:spcPts val="0"/>
              </a:spcAft>
              <a:buNone/>
            </a:pPr>
            <a:endParaRPr sz="1350">
              <a:solidFill>
                <a:srgbClr val="212529"/>
              </a:solidFill>
              <a:highlight>
                <a:srgbClr val="F5F9FC"/>
              </a:highlight>
            </a:endParaRPr>
          </a:p>
          <a:p>
            <a:pPr marL="0" lvl="0" indent="0" algn="l" rtl="0">
              <a:spcBef>
                <a:spcPts val="0"/>
              </a:spcBef>
              <a:spcAft>
                <a:spcPts val="0"/>
              </a:spcAft>
              <a:buNone/>
            </a:pPr>
            <a:r>
              <a:rPr lang="en" sz="1350">
                <a:solidFill>
                  <a:srgbClr val="212529"/>
                </a:solidFill>
                <a:highlight>
                  <a:srgbClr val="F5F9FC"/>
                </a:highlight>
              </a:rPr>
              <a:t>NLP tasks are trained to be language specific. While they can extract text from even images, emojis are a language in itself. Most emotion analysis solutions treat emojis like special characters that are removed from the data during the process of text mining. But doing so means that companies will not receive holistic insights from the data.</a:t>
            </a:r>
            <a:endParaRPr sz="1350">
              <a:solidFill>
                <a:srgbClr val="212529"/>
              </a:solidFill>
              <a:highlight>
                <a:srgbClr val="F5F9FC"/>
              </a:highlight>
            </a:endParaRPr>
          </a:p>
          <a:p>
            <a:pPr marL="0" lvl="0" indent="0" algn="l" rtl="0">
              <a:spcBef>
                <a:spcPts val="0"/>
              </a:spcBef>
              <a:spcAft>
                <a:spcPts val="0"/>
              </a:spcAft>
              <a:buNone/>
            </a:pPr>
            <a:endParaRPr sz="1350">
              <a:solidFill>
                <a:srgbClr val="212529"/>
              </a:solidFill>
              <a:highlight>
                <a:srgbClr val="F5F9FC"/>
              </a:highlight>
            </a:endParaRPr>
          </a:p>
          <a:p>
            <a:pPr marL="0" lvl="0" indent="0" algn="l" rtl="0">
              <a:spcBef>
                <a:spcPts val="0"/>
              </a:spcBef>
              <a:spcAft>
                <a:spcPts val="0"/>
              </a:spcAft>
              <a:buNone/>
            </a:pPr>
            <a:r>
              <a:rPr lang="en" sz="1350">
                <a:solidFill>
                  <a:srgbClr val="212529"/>
                </a:solidFill>
                <a:highlight>
                  <a:srgbClr val="F5F9FC"/>
                </a:highlight>
              </a:rPr>
              <a:t>Machine learning programs don’t necessarily understand a figure of speech. For example, an idiom like “not my cup of tea”, the algorithm will not analyze it correctly</a:t>
            </a:r>
            <a:endParaRPr sz="1350">
              <a:solidFill>
                <a:srgbClr val="212529"/>
              </a:solidFill>
              <a:highlight>
                <a:srgbClr val="F5F9FC"/>
              </a:highlight>
            </a:endParaRPr>
          </a:p>
          <a:p>
            <a:pPr marL="0" lvl="0" indent="0" algn="just" rtl="0">
              <a:lnSpc>
                <a:spcPct val="200000"/>
              </a:lnSpc>
              <a:spcBef>
                <a:spcPts val="0"/>
              </a:spcBef>
              <a:spcAft>
                <a:spcPts val="0"/>
              </a:spcAft>
              <a:buNone/>
            </a:pPr>
            <a:endParaRPr sz="1350">
              <a:solidFill>
                <a:srgbClr val="212529"/>
              </a:solidFill>
              <a:highlight>
                <a:srgbClr val="F5F9FC"/>
              </a:highlight>
            </a:endParaRPr>
          </a:p>
          <a:p>
            <a:pPr marL="0" lvl="0" indent="0" algn="just" rtl="0">
              <a:lnSpc>
                <a:spcPct val="200000"/>
              </a:lnSpc>
              <a:spcBef>
                <a:spcPts val="0"/>
              </a:spcBef>
              <a:spcAft>
                <a:spcPts val="0"/>
              </a:spcAft>
              <a:buNone/>
            </a:pPr>
            <a:r>
              <a:rPr lang="en" sz="1350">
                <a:solidFill>
                  <a:srgbClr val="212529"/>
                </a:solidFill>
                <a:highlight>
                  <a:srgbClr val="F5F9FC"/>
                </a:highlight>
              </a:rPr>
              <a:t>Learning: </a:t>
            </a:r>
            <a:endParaRPr sz="1350">
              <a:solidFill>
                <a:srgbClr val="212529"/>
              </a:solidFill>
              <a:highlight>
                <a:srgbClr val="F5F9FC"/>
              </a:highlight>
            </a:endParaRPr>
          </a:p>
          <a:p>
            <a:pPr marL="0" lvl="0" indent="0" algn="just" rtl="0">
              <a:lnSpc>
                <a:spcPct val="200000"/>
              </a:lnSpc>
              <a:spcBef>
                <a:spcPts val="0"/>
              </a:spcBef>
              <a:spcAft>
                <a:spcPts val="0"/>
              </a:spcAft>
              <a:buNone/>
            </a:pPr>
            <a:r>
              <a:rPr lang="en" sz="1200">
                <a:solidFill>
                  <a:srgbClr val="202124"/>
                </a:solidFill>
                <a:highlight>
                  <a:srgbClr val="FFFFFF"/>
                </a:highlight>
                <a:latin typeface="Roboto"/>
                <a:ea typeface="Roboto"/>
                <a:cs typeface="Roboto"/>
                <a:sym typeface="Roboto"/>
              </a:rPr>
              <a:t>Learned to use the frequency of words </a:t>
            </a:r>
            <a:r>
              <a:rPr lang="en" sz="1200" b="1">
                <a:solidFill>
                  <a:srgbClr val="202124"/>
                </a:solidFill>
                <a:highlight>
                  <a:srgbClr val="FFFFFF"/>
                </a:highlight>
                <a:latin typeface="Roboto"/>
                <a:ea typeface="Roboto"/>
                <a:cs typeface="Roboto"/>
                <a:sym typeface="Roboto"/>
              </a:rPr>
              <a:t>to determine how relevant those words are to a given document</a:t>
            </a:r>
            <a:r>
              <a:rPr lang="en" sz="1200">
                <a:solidFill>
                  <a:srgbClr val="202124"/>
                </a:solidFill>
                <a:highlight>
                  <a:srgbClr val="FFFFFF"/>
                </a:highlight>
                <a:latin typeface="Roboto"/>
                <a:ea typeface="Roboto"/>
                <a:cs typeface="Roboto"/>
                <a:sym typeface="Roboto"/>
              </a:rPr>
              <a:t>.</a:t>
            </a:r>
            <a:endParaRPr sz="1350">
              <a:solidFill>
                <a:srgbClr val="212529"/>
              </a:solidFill>
              <a:highlight>
                <a:srgbClr val="F5F9FC"/>
              </a:highlight>
            </a:endParaRPr>
          </a:p>
          <a:p>
            <a:pPr marL="0" lvl="0" indent="0" algn="just" rtl="0">
              <a:lnSpc>
                <a:spcPct val="200000"/>
              </a:lnSpc>
              <a:spcBef>
                <a:spcPts val="0"/>
              </a:spcBef>
              <a:spcAft>
                <a:spcPts val="0"/>
              </a:spcAft>
              <a:buNone/>
            </a:pPr>
            <a:r>
              <a:rPr lang="en" sz="1350">
                <a:solidFill>
                  <a:srgbClr val="212529"/>
                </a:solidFill>
                <a:highlight>
                  <a:srgbClr val="F5F9FC"/>
                </a:highlight>
              </a:rPr>
              <a:t>Learned to use polarity score to classify whether the review is positive or negative</a:t>
            </a:r>
            <a:endParaRPr sz="1350">
              <a:solidFill>
                <a:srgbClr val="212529"/>
              </a:solidFill>
              <a:highlight>
                <a:srgbClr val="F5F9FC"/>
              </a:highlight>
            </a:endParaRPr>
          </a:p>
          <a:p>
            <a:pPr marL="0" lvl="0" indent="0" algn="just" rtl="0">
              <a:lnSpc>
                <a:spcPct val="200000"/>
              </a:lnSpc>
              <a:spcBef>
                <a:spcPts val="0"/>
              </a:spcBef>
              <a:spcAft>
                <a:spcPts val="0"/>
              </a:spcAft>
              <a:buNone/>
            </a:pPr>
            <a:r>
              <a:rPr lang="en" sz="1350">
                <a:solidFill>
                  <a:srgbClr val="212529"/>
                </a:solidFill>
                <a:highlight>
                  <a:srgbClr val="F5F9FC"/>
                </a:highlight>
              </a:rPr>
              <a:t>use sentiment analysis on the review to help people make better decisions when downloading the apps from google play.</a:t>
            </a:r>
            <a:endParaRPr sz="1350">
              <a:solidFill>
                <a:srgbClr val="212529"/>
              </a:solidFill>
              <a:highlight>
                <a:srgbClr val="F5F9FC"/>
              </a:highlight>
            </a:endParaRPr>
          </a:p>
          <a:p>
            <a:pPr marL="0" lvl="0" indent="0" algn="just" rtl="0">
              <a:lnSpc>
                <a:spcPct val="200000"/>
              </a:lnSpc>
              <a:spcBef>
                <a:spcPts val="0"/>
              </a:spcBef>
              <a:spcAft>
                <a:spcPts val="0"/>
              </a:spcAft>
              <a:buNone/>
            </a:pPr>
            <a:endParaRPr sz="1350">
              <a:solidFill>
                <a:srgbClr val="212529"/>
              </a:solidFill>
              <a:highlight>
                <a:srgbClr val="F5F9FC"/>
              </a:highlight>
            </a:endParaRPr>
          </a:p>
          <a:p>
            <a:pPr marL="0" lvl="0" indent="0" algn="l" rtl="0">
              <a:spcBef>
                <a:spcPts val="0"/>
              </a:spcBef>
              <a:spcAft>
                <a:spcPts val="0"/>
              </a:spcAft>
              <a:buClr>
                <a:schemeClr val="dk1"/>
              </a:buClr>
              <a:buSzPts val="1100"/>
              <a:buFont typeface="Arial"/>
              <a:buNone/>
            </a:pPr>
            <a:r>
              <a:rPr lang="en" sz="1350">
                <a:solidFill>
                  <a:srgbClr val="212529"/>
                </a:solidFill>
                <a:highlight>
                  <a:srgbClr val="F5F9FC"/>
                </a:highlight>
              </a:rPr>
              <a:t>Machine learning programs don’t necessarily understand a figure of speech. For example, an idiom like “not my cup of tea”, the algorithm will not analyze it correctly</a:t>
            </a:r>
            <a:endParaRPr sz="1350">
              <a:solidFill>
                <a:srgbClr val="212529"/>
              </a:solidFill>
              <a:highlight>
                <a:srgbClr val="F5F9FC"/>
              </a:highlight>
            </a:endParaRPr>
          </a:p>
          <a:p>
            <a:pPr marL="0" lvl="0" indent="0" algn="just" rtl="0">
              <a:lnSpc>
                <a:spcPct val="200000"/>
              </a:lnSpc>
              <a:spcBef>
                <a:spcPts val="0"/>
              </a:spcBef>
              <a:spcAft>
                <a:spcPts val="0"/>
              </a:spcAft>
              <a:buNone/>
            </a:pPr>
            <a:endParaRPr sz="1350">
              <a:solidFill>
                <a:srgbClr val="212529"/>
              </a:solidFill>
              <a:highlight>
                <a:srgbClr val="F5F9FC"/>
              </a:highlight>
            </a:endParaRPr>
          </a:p>
          <a:p>
            <a:pPr marL="0" lvl="0" indent="0" algn="just" rtl="0">
              <a:lnSpc>
                <a:spcPct val="200000"/>
              </a:lnSpc>
              <a:spcBef>
                <a:spcPts val="0"/>
              </a:spcBef>
              <a:spcAft>
                <a:spcPts val="0"/>
              </a:spcAft>
              <a:buClr>
                <a:schemeClr val="dk1"/>
              </a:buClr>
              <a:buSzPts val="1100"/>
              <a:buFont typeface="Arial"/>
              <a:buNone/>
            </a:pPr>
            <a:endParaRPr sz="1350">
              <a:solidFill>
                <a:srgbClr val="212529"/>
              </a:solidFill>
              <a:highlight>
                <a:srgbClr val="F5F9FC"/>
              </a:high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12f240f2fb0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12f240f2fb0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510450" y="196625"/>
            <a:ext cx="8123100" cy="1518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4000"/>
              <a:t>Sentimental Analysis on Google Play Reviews</a:t>
            </a:r>
            <a:endParaRPr sz="4000"/>
          </a:p>
        </p:txBody>
      </p:sp>
      <p:sp>
        <p:nvSpPr>
          <p:cNvPr id="278" name="Google Shape;278;p13"/>
          <p:cNvSpPr txBox="1">
            <a:spLocks noGrp="1"/>
          </p:cNvSpPr>
          <p:nvPr>
            <p:ph type="subTitle" idx="1"/>
          </p:nvPr>
        </p:nvSpPr>
        <p:spPr>
          <a:xfrm>
            <a:off x="925350" y="2303525"/>
            <a:ext cx="1254000" cy="343500"/>
          </a:xfrm>
          <a:prstGeom prst="rect">
            <a:avLst/>
          </a:prstGeom>
          <a:noFill/>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endParaRPr sz="1400">
              <a:solidFill>
                <a:srgbClr val="FFFFFF"/>
              </a:solidFill>
              <a:latin typeface="Arial"/>
              <a:ea typeface="Arial"/>
              <a:cs typeface="Arial"/>
              <a:sym typeface="Arial"/>
            </a:endParaRPr>
          </a:p>
          <a:p>
            <a:pPr marL="0" lvl="0" indent="0" algn="l" rtl="0">
              <a:spcBef>
                <a:spcPts val="0"/>
              </a:spcBef>
              <a:spcAft>
                <a:spcPts val="0"/>
              </a:spcAft>
              <a:buNone/>
            </a:pPr>
            <a:r>
              <a:rPr lang="en" sz="7200">
                <a:solidFill>
                  <a:schemeClr val="lt1"/>
                </a:solidFill>
              </a:rPr>
              <a:t>Group 7</a:t>
            </a:r>
            <a:endParaRPr sz="7200">
              <a:solidFill>
                <a:schemeClr val="lt1"/>
              </a:solidFill>
            </a:endParaRPr>
          </a:p>
          <a:p>
            <a:pPr marL="0" lvl="0" indent="0" algn="l" rtl="0">
              <a:spcBef>
                <a:spcPts val="0"/>
              </a:spcBef>
              <a:spcAft>
                <a:spcPts val="0"/>
              </a:spcAft>
              <a:buNone/>
            </a:pPr>
            <a:endParaRPr>
              <a:solidFill>
                <a:schemeClr val="lt1"/>
              </a:solidFill>
            </a:endParaRPr>
          </a:p>
        </p:txBody>
      </p:sp>
      <p:pic>
        <p:nvPicPr>
          <p:cNvPr id="279" name="Google Shape;279;p13"/>
          <p:cNvPicPr preferRelativeResize="0"/>
          <p:nvPr/>
        </p:nvPicPr>
        <p:blipFill>
          <a:blip r:embed="rId3">
            <a:alphaModFix/>
          </a:blip>
          <a:stretch>
            <a:fillRect/>
          </a:stretch>
        </p:blipFill>
        <p:spPr>
          <a:xfrm>
            <a:off x="3881073" y="2347405"/>
            <a:ext cx="4290525" cy="2245350"/>
          </a:xfrm>
          <a:prstGeom prst="rect">
            <a:avLst/>
          </a:prstGeom>
          <a:noFill/>
          <a:ln>
            <a:noFill/>
          </a:ln>
        </p:spPr>
      </p:pic>
      <p:sp>
        <p:nvSpPr>
          <p:cNvPr id="280" name="Google Shape;280;p13"/>
          <p:cNvSpPr txBox="1"/>
          <p:nvPr/>
        </p:nvSpPr>
        <p:spPr>
          <a:xfrm>
            <a:off x="925350" y="2718200"/>
            <a:ext cx="20838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FFFFFF"/>
                </a:solidFill>
              </a:rPr>
              <a:t>Caizhen Huang</a:t>
            </a:r>
            <a:endParaRPr sz="1600">
              <a:solidFill>
                <a:srgbClr val="FFFFFF"/>
              </a:solidFill>
            </a:endParaRPr>
          </a:p>
          <a:p>
            <a:pPr marL="0" lvl="0" indent="0" algn="l" rtl="0">
              <a:spcBef>
                <a:spcPts val="0"/>
              </a:spcBef>
              <a:spcAft>
                <a:spcPts val="0"/>
              </a:spcAft>
              <a:buNone/>
            </a:pPr>
            <a:r>
              <a:rPr lang="en" sz="1600">
                <a:solidFill>
                  <a:srgbClr val="FFFFFF"/>
                </a:solidFill>
              </a:rPr>
              <a:t>Shiheng Huang</a:t>
            </a:r>
            <a:endParaRPr sz="1600">
              <a:solidFill>
                <a:srgbClr val="FFFFFF"/>
              </a:solidFill>
            </a:endParaRPr>
          </a:p>
          <a:p>
            <a:pPr marL="0" lvl="0" indent="0" algn="l" rtl="0">
              <a:spcBef>
                <a:spcPts val="0"/>
              </a:spcBef>
              <a:spcAft>
                <a:spcPts val="0"/>
              </a:spcAft>
              <a:buNone/>
            </a:pPr>
            <a:r>
              <a:rPr lang="en" sz="1600">
                <a:solidFill>
                  <a:srgbClr val="FFFFFF"/>
                </a:solidFill>
              </a:rPr>
              <a:t>Yi Huang</a:t>
            </a:r>
            <a:endParaRPr sz="1600">
              <a:solidFill>
                <a:srgbClr val="FFFFFF"/>
              </a:solidFill>
            </a:endParaRPr>
          </a:p>
          <a:p>
            <a:pPr marL="0" lvl="0" indent="0" algn="l" rtl="0">
              <a:spcBef>
                <a:spcPts val="0"/>
              </a:spcBef>
              <a:spcAft>
                <a:spcPts val="0"/>
              </a:spcAft>
              <a:buNone/>
            </a:pPr>
            <a:r>
              <a:rPr lang="en" sz="1600">
                <a:solidFill>
                  <a:srgbClr val="FFFFFF"/>
                </a:solidFill>
              </a:rPr>
              <a:t>Ziqing Liang</a:t>
            </a:r>
            <a:endParaRPr sz="1600">
              <a:solidFill>
                <a:srgbClr val="FFFFFF"/>
              </a:solidFill>
            </a:endParaRPr>
          </a:p>
          <a:p>
            <a:pPr marL="0" lvl="0" indent="0" algn="l" rtl="0">
              <a:spcBef>
                <a:spcPts val="0"/>
              </a:spcBef>
              <a:spcAft>
                <a:spcPts val="0"/>
              </a:spcAft>
              <a:buNone/>
            </a:pPr>
            <a:r>
              <a:rPr lang="en" sz="1600">
                <a:solidFill>
                  <a:srgbClr val="FFFFFF"/>
                </a:solidFill>
              </a:rPr>
              <a:t>Xinfa Pan</a:t>
            </a:r>
            <a:endParaRPr sz="160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4"/>
          <p:cNvSpPr txBox="1">
            <a:spLocks noGrp="1"/>
          </p:cNvSpPr>
          <p:nvPr>
            <p:ph type="ctrTitle"/>
          </p:nvPr>
        </p:nvSpPr>
        <p:spPr>
          <a:xfrm>
            <a:off x="498275" y="285675"/>
            <a:ext cx="3800700" cy="975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Introduction</a:t>
            </a:r>
            <a:endParaRPr/>
          </a:p>
        </p:txBody>
      </p:sp>
      <p:sp>
        <p:nvSpPr>
          <p:cNvPr id="286" name="Google Shape;286;p14"/>
          <p:cNvSpPr txBox="1">
            <a:spLocks noGrp="1"/>
          </p:cNvSpPr>
          <p:nvPr>
            <p:ph type="subTitle" idx="1"/>
          </p:nvPr>
        </p:nvSpPr>
        <p:spPr>
          <a:xfrm>
            <a:off x="498275" y="1317625"/>
            <a:ext cx="6418800" cy="15651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
              <a:t>Sentiment Analysis for Google Play reviews</a:t>
            </a:r>
            <a:endParaRPr/>
          </a:p>
          <a:p>
            <a:pPr marL="457200" lvl="0" indent="-330200" algn="l" rtl="0">
              <a:spcBef>
                <a:spcPts val="0"/>
              </a:spcBef>
              <a:spcAft>
                <a:spcPts val="0"/>
              </a:spcAft>
              <a:buSzPts val="1600"/>
              <a:buChar char="-"/>
            </a:pPr>
            <a:r>
              <a:rPr lang="en"/>
              <a:t>Judge whether an app is good or bad</a:t>
            </a:r>
            <a:endParaRPr/>
          </a:p>
          <a:p>
            <a:pPr marL="457200" lvl="0" indent="-330200" algn="l" rtl="0">
              <a:spcBef>
                <a:spcPts val="0"/>
              </a:spcBef>
              <a:spcAft>
                <a:spcPts val="0"/>
              </a:spcAft>
              <a:buSzPts val="1600"/>
              <a:buChar char="-"/>
            </a:pPr>
            <a:r>
              <a:rPr lang="en"/>
              <a:t>User can use this model to decide to use which app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ctrTitle"/>
          </p:nvPr>
        </p:nvSpPr>
        <p:spPr>
          <a:xfrm>
            <a:off x="2411614" y="1662395"/>
            <a:ext cx="4320772" cy="139135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000" dirty="0"/>
              <a:t>Data Description</a:t>
            </a:r>
            <a:endParaRPr sz="4000" dirty="0"/>
          </a:p>
        </p:txBody>
      </p:sp>
    </p:spTree>
    <p:extLst>
      <p:ext uri="{BB962C8B-B14F-4D97-AF65-F5344CB8AC3E}">
        <p14:creationId xmlns:p14="http://schemas.microsoft.com/office/powerpoint/2010/main" val="2775762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ctrTitle"/>
          </p:nvPr>
        </p:nvSpPr>
        <p:spPr>
          <a:xfrm>
            <a:off x="527275" y="316675"/>
            <a:ext cx="4013100" cy="925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Data Description</a:t>
            </a:r>
            <a:endParaRPr/>
          </a:p>
        </p:txBody>
      </p:sp>
      <p:sp>
        <p:nvSpPr>
          <p:cNvPr id="292" name="Google Shape;292;p15"/>
          <p:cNvSpPr txBox="1">
            <a:spLocks noGrp="1"/>
          </p:cNvSpPr>
          <p:nvPr>
            <p:ph type="subTitle" idx="1"/>
          </p:nvPr>
        </p:nvSpPr>
        <p:spPr>
          <a:xfrm>
            <a:off x="527275" y="1626325"/>
            <a:ext cx="7688100" cy="2994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
              <a:t>Content</a:t>
            </a:r>
            <a:endParaRPr/>
          </a:p>
          <a:p>
            <a:pPr marL="457200" lvl="0" indent="0" algn="l" rtl="0">
              <a:spcBef>
                <a:spcPts val="0"/>
              </a:spcBef>
              <a:spcAft>
                <a:spcPts val="0"/>
              </a:spcAft>
              <a:buNone/>
            </a:pPr>
            <a:r>
              <a:rPr lang="en"/>
              <a:t>- Google play apps’ reviews </a:t>
            </a:r>
            <a:endParaRPr/>
          </a:p>
          <a:p>
            <a:pPr marL="457200" lvl="0" indent="0" algn="l" rtl="0">
              <a:spcBef>
                <a:spcPts val="0"/>
              </a:spcBef>
              <a:spcAft>
                <a:spcPts val="0"/>
              </a:spcAft>
              <a:buNone/>
            </a:pPr>
            <a:endParaRPr/>
          </a:p>
          <a:p>
            <a:pPr marL="457200" lvl="0" indent="-330200" algn="l" rtl="0">
              <a:spcBef>
                <a:spcPts val="0"/>
              </a:spcBef>
              <a:spcAft>
                <a:spcPts val="0"/>
              </a:spcAft>
              <a:buSzPts val="1600"/>
              <a:buChar char="-"/>
            </a:pPr>
            <a:r>
              <a:rPr lang="en"/>
              <a:t>Method</a:t>
            </a:r>
            <a:endParaRPr/>
          </a:p>
          <a:p>
            <a:pPr marL="914400" lvl="1" indent="-330200" algn="l" rtl="0">
              <a:spcBef>
                <a:spcPts val="0"/>
              </a:spcBef>
              <a:spcAft>
                <a:spcPts val="0"/>
              </a:spcAft>
              <a:buSzPts val="1600"/>
              <a:buChar char="-"/>
            </a:pPr>
            <a:r>
              <a:rPr lang="en"/>
              <a:t>Web Scraping</a:t>
            </a:r>
            <a:endParaRPr/>
          </a:p>
          <a:p>
            <a:pPr marL="0" lvl="0" indent="0" algn="l" rtl="0">
              <a:spcBef>
                <a:spcPts val="0"/>
              </a:spcBef>
              <a:spcAft>
                <a:spcPts val="0"/>
              </a:spcAft>
              <a:buNone/>
            </a:pPr>
            <a:endParaRPr/>
          </a:p>
          <a:p>
            <a:pPr marL="457200" lvl="0" indent="-330200" algn="l" rtl="0">
              <a:spcBef>
                <a:spcPts val="0"/>
              </a:spcBef>
              <a:spcAft>
                <a:spcPts val="0"/>
              </a:spcAft>
              <a:buSzPts val="1600"/>
              <a:buChar char="-"/>
            </a:pPr>
            <a:r>
              <a:rPr lang="en"/>
              <a:t>Data attributes</a:t>
            </a:r>
            <a:endParaRPr/>
          </a:p>
          <a:p>
            <a:pPr marL="914400" lvl="1" indent="-330200" algn="l" rtl="0">
              <a:spcBef>
                <a:spcPts val="0"/>
              </a:spcBef>
              <a:spcAft>
                <a:spcPts val="0"/>
              </a:spcAft>
              <a:buSzPts val="1600"/>
              <a:buChar char="-"/>
            </a:pPr>
            <a:r>
              <a:rPr lang="en"/>
              <a:t>ReviewId - chr, userName - chr, userImage - chr, Content - chr</a:t>
            </a:r>
            <a:endParaRPr/>
          </a:p>
          <a:p>
            <a:pPr marL="457200" lvl="0" indent="457200" algn="l" rtl="0">
              <a:spcBef>
                <a:spcPts val="0"/>
              </a:spcBef>
              <a:spcAft>
                <a:spcPts val="0"/>
              </a:spcAft>
              <a:buNone/>
            </a:pPr>
            <a:r>
              <a:rPr lang="en"/>
              <a:t>Score - int, thumbsUpCount - int, reviewCreatedVersion - chr</a:t>
            </a:r>
            <a:endParaRPr/>
          </a:p>
          <a:p>
            <a:pPr marL="457200" lvl="0" indent="457200" algn="l" rtl="0">
              <a:spcBef>
                <a:spcPts val="0"/>
              </a:spcBef>
              <a:spcAft>
                <a:spcPts val="0"/>
              </a:spcAft>
              <a:buNone/>
            </a:pPr>
            <a:r>
              <a:rPr lang="en"/>
              <a:t>At - chr, replyContent - chr, repliedAt - chr, sortOrder - chr, appId - chr</a:t>
            </a:r>
            <a:endParaRPr/>
          </a:p>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16"/>
          <p:cNvSpPr txBox="1">
            <a:spLocks noGrp="1"/>
          </p:cNvSpPr>
          <p:nvPr>
            <p:ph type="ctrTitle"/>
          </p:nvPr>
        </p:nvSpPr>
        <p:spPr>
          <a:xfrm>
            <a:off x="527775" y="285099"/>
            <a:ext cx="4255500" cy="974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Data Cleaning</a:t>
            </a:r>
            <a:endParaRPr/>
          </a:p>
        </p:txBody>
      </p:sp>
      <p:sp>
        <p:nvSpPr>
          <p:cNvPr id="298" name="Google Shape;298;p16"/>
          <p:cNvSpPr txBox="1">
            <a:spLocks noGrp="1"/>
          </p:cNvSpPr>
          <p:nvPr>
            <p:ph type="subTitle" idx="1"/>
          </p:nvPr>
        </p:nvSpPr>
        <p:spPr>
          <a:xfrm>
            <a:off x="727950" y="1368875"/>
            <a:ext cx="7688100" cy="4974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sz="2819" dirty="0"/>
              <a:t>Removing irrelevant attributes, Keeping necessary data</a:t>
            </a:r>
            <a:endParaRPr sz="2819" dirty="0"/>
          </a:p>
          <a:p>
            <a:pPr marL="0" lvl="0" indent="0" algn="l" rtl="0">
              <a:spcBef>
                <a:spcPts val="0"/>
              </a:spcBef>
              <a:spcAft>
                <a:spcPts val="0"/>
              </a:spcAft>
              <a:buNone/>
            </a:pPr>
            <a:endParaRPr dirty="0"/>
          </a:p>
        </p:txBody>
      </p:sp>
      <p:pic>
        <p:nvPicPr>
          <p:cNvPr id="299" name="Google Shape;299;p16"/>
          <p:cNvPicPr preferRelativeResize="0"/>
          <p:nvPr/>
        </p:nvPicPr>
        <p:blipFill>
          <a:blip r:embed="rId3">
            <a:alphaModFix/>
          </a:blip>
          <a:stretch>
            <a:fillRect/>
          </a:stretch>
        </p:blipFill>
        <p:spPr>
          <a:xfrm>
            <a:off x="839924" y="2047100"/>
            <a:ext cx="3873841" cy="2261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ctrTitle"/>
          </p:nvPr>
        </p:nvSpPr>
        <p:spPr>
          <a:xfrm>
            <a:off x="2083280" y="1679647"/>
            <a:ext cx="4977440" cy="139135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000" dirty="0"/>
              <a:t>Steps of Approach </a:t>
            </a:r>
          </a:p>
        </p:txBody>
      </p:sp>
    </p:spTree>
    <p:extLst>
      <p:ext uri="{BB962C8B-B14F-4D97-AF65-F5344CB8AC3E}">
        <p14:creationId xmlns:p14="http://schemas.microsoft.com/office/powerpoint/2010/main" val="2572770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7"/>
          <p:cNvSpPr txBox="1">
            <a:spLocks noGrp="1"/>
          </p:cNvSpPr>
          <p:nvPr>
            <p:ph type="ctrTitle"/>
          </p:nvPr>
        </p:nvSpPr>
        <p:spPr>
          <a:xfrm>
            <a:off x="499750" y="307875"/>
            <a:ext cx="7543200" cy="926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Our Approach</a:t>
            </a:r>
            <a:endParaRPr/>
          </a:p>
        </p:txBody>
      </p:sp>
      <p:sp>
        <p:nvSpPr>
          <p:cNvPr id="305" name="Google Shape;305;p17"/>
          <p:cNvSpPr/>
          <p:nvPr/>
        </p:nvSpPr>
        <p:spPr>
          <a:xfrm>
            <a:off x="1311475" y="1343450"/>
            <a:ext cx="3864000" cy="60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320040" algn="l" rtl="0">
              <a:lnSpc>
                <a:spcPct val="90000"/>
              </a:lnSpc>
              <a:spcBef>
                <a:spcPts val="0"/>
              </a:spcBef>
              <a:spcAft>
                <a:spcPts val="0"/>
              </a:spcAft>
              <a:buClr>
                <a:schemeClr val="dk2"/>
              </a:buClr>
              <a:buSzPts val="1440"/>
              <a:buFont typeface="Nunito"/>
              <a:buAutoNum type="arabicPeriod"/>
            </a:pPr>
            <a:r>
              <a:rPr lang="en" sz="1440" b="1" dirty="0">
                <a:solidFill>
                  <a:schemeClr val="dk2"/>
                </a:solidFill>
                <a:latin typeface="Nunito"/>
                <a:ea typeface="Nunito"/>
                <a:cs typeface="Nunito"/>
                <a:sym typeface="Nunito"/>
              </a:rPr>
              <a:t>Preprocessing and Cleaning </a:t>
            </a:r>
            <a:endParaRPr b="1" dirty="0">
              <a:solidFill>
                <a:schemeClr val="dk2"/>
              </a:solidFill>
            </a:endParaRPr>
          </a:p>
        </p:txBody>
      </p:sp>
      <p:sp>
        <p:nvSpPr>
          <p:cNvPr id="306" name="Google Shape;306;p17"/>
          <p:cNvSpPr/>
          <p:nvPr/>
        </p:nvSpPr>
        <p:spPr>
          <a:xfrm>
            <a:off x="3000375" y="1975925"/>
            <a:ext cx="192000" cy="276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7"/>
          <p:cNvSpPr/>
          <p:nvPr/>
        </p:nvSpPr>
        <p:spPr>
          <a:xfrm>
            <a:off x="1311475" y="2271600"/>
            <a:ext cx="3864000" cy="60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90000"/>
              </a:lnSpc>
              <a:spcBef>
                <a:spcPts val="0"/>
              </a:spcBef>
              <a:spcAft>
                <a:spcPts val="0"/>
              </a:spcAft>
              <a:buNone/>
            </a:pPr>
            <a:r>
              <a:rPr lang="en" sz="1440" b="1">
                <a:solidFill>
                  <a:schemeClr val="dk2"/>
                </a:solidFill>
                <a:latin typeface="Nunito"/>
                <a:ea typeface="Nunito"/>
                <a:cs typeface="Nunito"/>
                <a:sym typeface="Nunito"/>
              </a:rPr>
              <a:t>  2.    Text Visualization</a:t>
            </a:r>
            <a:endParaRPr b="1">
              <a:solidFill>
                <a:schemeClr val="dk2"/>
              </a:solidFill>
            </a:endParaRPr>
          </a:p>
        </p:txBody>
      </p:sp>
      <p:sp>
        <p:nvSpPr>
          <p:cNvPr id="308" name="Google Shape;308;p17"/>
          <p:cNvSpPr/>
          <p:nvPr/>
        </p:nvSpPr>
        <p:spPr>
          <a:xfrm>
            <a:off x="3000375" y="2891463"/>
            <a:ext cx="192000" cy="276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7"/>
          <p:cNvSpPr/>
          <p:nvPr/>
        </p:nvSpPr>
        <p:spPr>
          <a:xfrm>
            <a:off x="1311475" y="3167775"/>
            <a:ext cx="3864000" cy="60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90000"/>
              </a:lnSpc>
              <a:spcBef>
                <a:spcPts val="0"/>
              </a:spcBef>
              <a:spcAft>
                <a:spcPts val="0"/>
              </a:spcAft>
              <a:buNone/>
            </a:pPr>
            <a:r>
              <a:rPr lang="en" sz="1440" b="1">
                <a:solidFill>
                  <a:schemeClr val="dk2"/>
                </a:solidFill>
                <a:latin typeface="Nunito"/>
                <a:ea typeface="Nunito"/>
                <a:cs typeface="Nunito"/>
                <a:sym typeface="Nunito"/>
              </a:rPr>
              <a:t>  3.   Sentiment Analysis     </a:t>
            </a:r>
            <a:endParaRPr b="1">
              <a:solidFill>
                <a:schemeClr val="dk2"/>
              </a:solidFill>
            </a:endParaRPr>
          </a:p>
        </p:txBody>
      </p:sp>
      <p:sp>
        <p:nvSpPr>
          <p:cNvPr id="310" name="Google Shape;310;p17"/>
          <p:cNvSpPr/>
          <p:nvPr/>
        </p:nvSpPr>
        <p:spPr>
          <a:xfrm>
            <a:off x="3000375" y="3777850"/>
            <a:ext cx="192000" cy="276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7"/>
          <p:cNvSpPr/>
          <p:nvPr/>
        </p:nvSpPr>
        <p:spPr>
          <a:xfrm>
            <a:off x="1311475" y="4063950"/>
            <a:ext cx="3864000" cy="60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90000"/>
              </a:lnSpc>
              <a:spcBef>
                <a:spcPts val="0"/>
              </a:spcBef>
              <a:spcAft>
                <a:spcPts val="0"/>
              </a:spcAft>
              <a:buNone/>
            </a:pPr>
            <a:r>
              <a:rPr lang="en" sz="1440" b="1">
                <a:solidFill>
                  <a:schemeClr val="dk2"/>
                </a:solidFill>
                <a:latin typeface="Nunito"/>
                <a:ea typeface="Nunito"/>
                <a:cs typeface="Nunito"/>
                <a:sym typeface="Nunito"/>
              </a:rPr>
              <a:t>  4.    Sentiment Modeling</a:t>
            </a:r>
            <a:endParaRPr b="1">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8"/>
          <p:cNvSpPr txBox="1">
            <a:spLocks noGrp="1"/>
          </p:cNvSpPr>
          <p:nvPr>
            <p:ph type="subTitle" idx="1"/>
          </p:nvPr>
        </p:nvSpPr>
        <p:spPr>
          <a:xfrm>
            <a:off x="830750" y="1371013"/>
            <a:ext cx="4255500" cy="10605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AutoNum type="arabicPeriod"/>
            </a:pPr>
            <a:r>
              <a:rPr lang="en"/>
              <a:t>Standardize all letters</a:t>
            </a:r>
            <a:endParaRPr/>
          </a:p>
          <a:p>
            <a:pPr marL="457200" lvl="0" indent="-330200" algn="l" rtl="0">
              <a:spcBef>
                <a:spcPts val="0"/>
              </a:spcBef>
              <a:spcAft>
                <a:spcPts val="0"/>
              </a:spcAft>
              <a:buSzPts val="1600"/>
              <a:buAutoNum type="arabicPeriod"/>
            </a:pPr>
            <a:r>
              <a:rPr lang="en"/>
              <a:t>Punctuations</a:t>
            </a:r>
            <a:endParaRPr/>
          </a:p>
          <a:p>
            <a:pPr marL="457200" lvl="0" indent="-330200" algn="l" rtl="0">
              <a:spcBef>
                <a:spcPts val="0"/>
              </a:spcBef>
              <a:spcAft>
                <a:spcPts val="0"/>
              </a:spcAft>
              <a:buSzPts val="1600"/>
              <a:buAutoNum type="arabicPeriod"/>
            </a:pPr>
            <a:r>
              <a:rPr lang="en"/>
              <a:t>Numbers</a:t>
            </a:r>
            <a:endParaRPr/>
          </a:p>
        </p:txBody>
      </p:sp>
      <p:sp>
        <p:nvSpPr>
          <p:cNvPr id="317" name="Google Shape;317;p18"/>
          <p:cNvSpPr txBox="1">
            <a:spLocks noGrp="1"/>
          </p:cNvSpPr>
          <p:nvPr>
            <p:ph type="ctrTitle"/>
          </p:nvPr>
        </p:nvSpPr>
        <p:spPr>
          <a:xfrm>
            <a:off x="454475" y="470650"/>
            <a:ext cx="7989600" cy="925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4044"/>
              <a:t>Text Preprocessing</a:t>
            </a:r>
            <a:endParaRPr sz="1644" b="0">
              <a:solidFill>
                <a:srgbClr val="202124"/>
              </a:solidFill>
              <a:latin typeface="Times New Roman"/>
              <a:ea typeface="Times New Roman"/>
              <a:cs typeface="Times New Roman"/>
              <a:sym typeface="Times New Roman"/>
            </a:endParaRPr>
          </a:p>
          <a:p>
            <a:pPr marL="0" lvl="0" indent="0" algn="l" rtl="0">
              <a:spcBef>
                <a:spcPts val="0"/>
              </a:spcBef>
              <a:spcAft>
                <a:spcPts val="0"/>
              </a:spcAft>
              <a:buNone/>
            </a:pPr>
            <a:endParaRPr sz="1200" b="0">
              <a:solidFill>
                <a:srgbClr val="202124"/>
              </a:solidFill>
              <a:latin typeface="Times New Roman"/>
              <a:ea typeface="Times New Roman"/>
              <a:cs typeface="Times New Roman"/>
              <a:sym typeface="Times New Roman"/>
            </a:endParaRPr>
          </a:p>
          <a:p>
            <a:pPr marL="0" lvl="0" indent="0" algn="just" rtl="0">
              <a:lnSpc>
                <a:spcPct val="200000"/>
              </a:lnSpc>
              <a:spcBef>
                <a:spcPts val="0"/>
              </a:spcBef>
              <a:spcAft>
                <a:spcPts val="0"/>
              </a:spcAft>
              <a:buNone/>
            </a:pPr>
            <a:endParaRPr sz="1200" b="0">
              <a:solidFill>
                <a:srgbClr val="202124"/>
              </a:solidFill>
              <a:latin typeface="Times New Roman"/>
              <a:ea typeface="Times New Roman"/>
              <a:cs typeface="Times New Roman"/>
              <a:sym typeface="Times New Roman"/>
            </a:endParaRPr>
          </a:p>
        </p:txBody>
      </p:sp>
      <p:pic>
        <p:nvPicPr>
          <p:cNvPr id="318" name="Google Shape;318;p18"/>
          <p:cNvPicPr preferRelativeResize="0"/>
          <p:nvPr/>
        </p:nvPicPr>
        <p:blipFill>
          <a:blip r:embed="rId3">
            <a:alphaModFix/>
          </a:blip>
          <a:stretch>
            <a:fillRect/>
          </a:stretch>
        </p:blipFill>
        <p:spPr>
          <a:xfrm>
            <a:off x="830750" y="2539525"/>
            <a:ext cx="4801200" cy="973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9"/>
          <p:cNvSpPr txBox="1">
            <a:spLocks noGrp="1"/>
          </p:cNvSpPr>
          <p:nvPr>
            <p:ph type="subTitle" idx="1"/>
          </p:nvPr>
        </p:nvSpPr>
        <p:spPr>
          <a:xfrm>
            <a:off x="830750" y="1221051"/>
            <a:ext cx="4512300" cy="140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4. Stopwords</a:t>
            </a:r>
            <a:endParaRPr dirty="0"/>
          </a:p>
          <a:p>
            <a:pPr marL="0" lvl="0" indent="0" algn="l" rtl="0">
              <a:spcBef>
                <a:spcPts val="0"/>
              </a:spcBef>
              <a:spcAft>
                <a:spcPts val="0"/>
              </a:spcAft>
              <a:buNone/>
            </a:pPr>
            <a:r>
              <a:rPr lang="en" dirty="0"/>
              <a:t>5. Rarewords</a:t>
            </a:r>
            <a:endParaRPr dirty="0"/>
          </a:p>
          <a:p>
            <a:pPr marL="0" lvl="0" indent="0" algn="l" rtl="0">
              <a:spcBef>
                <a:spcPts val="0"/>
              </a:spcBef>
              <a:spcAft>
                <a:spcPts val="0"/>
              </a:spcAft>
              <a:buNone/>
            </a:pPr>
            <a:r>
              <a:rPr lang="en" dirty="0"/>
              <a:t>6. Tokenization</a:t>
            </a:r>
            <a:endParaRPr dirty="0"/>
          </a:p>
          <a:p>
            <a:pPr marL="0" lvl="0" indent="0" algn="l" rtl="0">
              <a:spcBef>
                <a:spcPts val="0"/>
              </a:spcBef>
              <a:spcAft>
                <a:spcPts val="0"/>
              </a:spcAft>
              <a:buNone/>
            </a:pPr>
            <a:r>
              <a:rPr lang="en" dirty="0"/>
              <a:t>5. Lemmatization</a:t>
            </a:r>
            <a:endParaRPr dirty="0"/>
          </a:p>
        </p:txBody>
      </p:sp>
      <p:sp>
        <p:nvSpPr>
          <p:cNvPr id="324" name="Google Shape;324;p19"/>
          <p:cNvSpPr txBox="1">
            <a:spLocks noGrp="1"/>
          </p:cNvSpPr>
          <p:nvPr>
            <p:ph type="ctrTitle"/>
          </p:nvPr>
        </p:nvSpPr>
        <p:spPr>
          <a:xfrm>
            <a:off x="515125" y="264925"/>
            <a:ext cx="7989600" cy="9258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endParaRPr sz="1755" b="0">
              <a:solidFill>
                <a:srgbClr val="202124"/>
              </a:solidFill>
              <a:latin typeface="Times New Roman"/>
              <a:ea typeface="Times New Roman"/>
              <a:cs typeface="Times New Roman"/>
              <a:sym typeface="Times New Roman"/>
            </a:endParaRPr>
          </a:p>
          <a:p>
            <a:pPr marL="0" lvl="0" indent="0" algn="l" rtl="0">
              <a:spcBef>
                <a:spcPts val="0"/>
              </a:spcBef>
              <a:spcAft>
                <a:spcPts val="0"/>
              </a:spcAft>
              <a:buNone/>
            </a:pPr>
            <a:r>
              <a:rPr lang="en" sz="4044"/>
              <a:t>Text Preprocessing</a:t>
            </a:r>
            <a:endParaRPr sz="1088" b="0">
              <a:solidFill>
                <a:srgbClr val="202124"/>
              </a:solidFill>
              <a:latin typeface="Times New Roman"/>
              <a:ea typeface="Times New Roman"/>
              <a:cs typeface="Times New Roman"/>
              <a:sym typeface="Times New Roman"/>
            </a:endParaRPr>
          </a:p>
          <a:p>
            <a:pPr marL="0" lvl="0" indent="0" algn="just" rtl="0">
              <a:lnSpc>
                <a:spcPct val="200000"/>
              </a:lnSpc>
              <a:spcBef>
                <a:spcPts val="0"/>
              </a:spcBef>
              <a:spcAft>
                <a:spcPts val="0"/>
              </a:spcAft>
              <a:buNone/>
            </a:pPr>
            <a:endParaRPr sz="1200" b="0">
              <a:solidFill>
                <a:srgbClr val="202124"/>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1A9BD6AD-4A8A-6532-A52A-3005E63455CE}"/>
              </a:ext>
            </a:extLst>
          </p:cNvPr>
          <p:cNvPicPr>
            <a:picLocks noChangeAspect="1"/>
          </p:cNvPicPr>
          <p:nvPr/>
        </p:nvPicPr>
        <p:blipFill>
          <a:blip r:embed="rId3"/>
          <a:stretch>
            <a:fillRect/>
          </a:stretch>
        </p:blipFill>
        <p:spPr>
          <a:xfrm>
            <a:off x="940117" y="2416873"/>
            <a:ext cx="4581525" cy="23336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0"/>
          <p:cNvSpPr txBox="1">
            <a:spLocks noGrp="1"/>
          </p:cNvSpPr>
          <p:nvPr>
            <p:ph type="subTitle" idx="1"/>
          </p:nvPr>
        </p:nvSpPr>
        <p:spPr>
          <a:xfrm>
            <a:off x="621500" y="1200650"/>
            <a:ext cx="4623300" cy="11349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AutoNum type="arabicPeriod"/>
            </a:pPr>
            <a:r>
              <a:rPr lang="en" dirty="0"/>
              <a:t>Calculate the Term Frequencies</a:t>
            </a:r>
            <a:endParaRPr dirty="0"/>
          </a:p>
          <a:p>
            <a:pPr marL="457200" lvl="0" indent="-330200" algn="l" rtl="0">
              <a:spcBef>
                <a:spcPts val="0"/>
              </a:spcBef>
              <a:spcAft>
                <a:spcPts val="0"/>
              </a:spcAft>
              <a:buSzPts val="1600"/>
              <a:buAutoNum type="arabicPeriod"/>
            </a:pPr>
            <a:r>
              <a:rPr lang="en" dirty="0"/>
              <a:t>Barplot</a:t>
            </a:r>
            <a:endParaRPr dirty="0"/>
          </a:p>
          <a:p>
            <a:pPr marL="457200" lvl="0" indent="-330200" algn="l" rtl="0">
              <a:spcBef>
                <a:spcPts val="0"/>
              </a:spcBef>
              <a:spcAft>
                <a:spcPts val="0"/>
              </a:spcAft>
              <a:buSzPts val="1600"/>
              <a:buAutoNum type="arabicPeriod"/>
            </a:pPr>
            <a:r>
              <a:rPr lang="en" dirty="0"/>
              <a:t>Wordcloud</a:t>
            </a:r>
            <a:endParaRPr dirty="0"/>
          </a:p>
        </p:txBody>
      </p:sp>
      <p:sp>
        <p:nvSpPr>
          <p:cNvPr id="331" name="Google Shape;331;p20"/>
          <p:cNvSpPr txBox="1">
            <a:spLocks noGrp="1"/>
          </p:cNvSpPr>
          <p:nvPr>
            <p:ph type="ctrTitle"/>
          </p:nvPr>
        </p:nvSpPr>
        <p:spPr>
          <a:xfrm>
            <a:off x="466625" y="274850"/>
            <a:ext cx="7989600" cy="925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Text Visualization</a:t>
            </a:r>
            <a:endParaRPr/>
          </a:p>
        </p:txBody>
      </p:sp>
      <p:pic>
        <p:nvPicPr>
          <p:cNvPr id="332" name="Google Shape;332;p20"/>
          <p:cNvPicPr preferRelativeResize="0"/>
          <p:nvPr/>
        </p:nvPicPr>
        <p:blipFill>
          <a:blip r:embed="rId3">
            <a:alphaModFix/>
          </a:blip>
          <a:stretch>
            <a:fillRect/>
          </a:stretch>
        </p:blipFill>
        <p:spPr>
          <a:xfrm>
            <a:off x="4739875" y="1654300"/>
            <a:ext cx="4099899" cy="3126849"/>
          </a:xfrm>
          <a:prstGeom prst="rect">
            <a:avLst/>
          </a:prstGeom>
          <a:noFill/>
          <a:ln>
            <a:noFill/>
          </a:ln>
        </p:spPr>
      </p:pic>
      <p:pic>
        <p:nvPicPr>
          <p:cNvPr id="333" name="Google Shape;333;p20"/>
          <p:cNvPicPr preferRelativeResize="0"/>
          <p:nvPr/>
        </p:nvPicPr>
        <p:blipFill>
          <a:blip r:embed="rId4">
            <a:alphaModFix/>
          </a:blip>
          <a:stretch>
            <a:fillRect/>
          </a:stretch>
        </p:blipFill>
        <p:spPr>
          <a:xfrm>
            <a:off x="708200" y="2494000"/>
            <a:ext cx="3863799" cy="1970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1"/>
          <p:cNvSpPr txBox="1">
            <a:spLocks noGrp="1"/>
          </p:cNvSpPr>
          <p:nvPr>
            <p:ph type="subTitle" idx="1"/>
          </p:nvPr>
        </p:nvSpPr>
        <p:spPr>
          <a:xfrm>
            <a:off x="527275" y="1071075"/>
            <a:ext cx="4786500" cy="2416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00"/>
              <a:t>We used a package called sentiment intensity analyzer. With the feature “polarity score” function inside the package,  to analyze the emotion within the app review to try to determine if the app review is positive, negative, or neutral. For instance, if the review is like “the film was awesome”, I will give negative score of 0, neutral score of 0.423, positive score of 0.577, which sums to the total score of 1. </a:t>
            </a:r>
            <a:endParaRPr sz="1300"/>
          </a:p>
          <a:p>
            <a:pPr marL="0" lvl="0" indent="0" algn="l" rtl="0">
              <a:spcBef>
                <a:spcPts val="0"/>
              </a:spcBef>
              <a:spcAft>
                <a:spcPts val="0"/>
              </a:spcAft>
              <a:buNone/>
            </a:pPr>
            <a:endParaRPr sz="1300"/>
          </a:p>
          <a:p>
            <a:pPr marL="0" lvl="0" indent="0" algn="l" rtl="0">
              <a:spcBef>
                <a:spcPts val="0"/>
              </a:spcBef>
              <a:spcAft>
                <a:spcPts val="0"/>
              </a:spcAft>
              <a:buNone/>
            </a:pPr>
            <a:r>
              <a:rPr lang="en" sz="1300"/>
              <a:t>We use this function to get the compound score (aggregated score of the review), positive score, and negative score, and we make them into columns for future use. </a:t>
            </a:r>
            <a:endParaRPr sz="1300"/>
          </a:p>
        </p:txBody>
      </p:sp>
      <p:sp>
        <p:nvSpPr>
          <p:cNvPr id="339" name="Google Shape;339;p21"/>
          <p:cNvSpPr txBox="1">
            <a:spLocks noGrp="1"/>
          </p:cNvSpPr>
          <p:nvPr>
            <p:ph type="ctrTitle"/>
          </p:nvPr>
        </p:nvSpPr>
        <p:spPr>
          <a:xfrm>
            <a:off x="527275" y="205925"/>
            <a:ext cx="7989600" cy="925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Sentiment Analysis</a:t>
            </a:r>
            <a:endParaRPr/>
          </a:p>
        </p:txBody>
      </p:sp>
      <p:pic>
        <p:nvPicPr>
          <p:cNvPr id="340" name="Google Shape;340;p21"/>
          <p:cNvPicPr preferRelativeResize="0"/>
          <p:nvPr/>
        </p:nvPicPr>
        <p:blipFill>
          <a:blip r:embed="rId3">
            <a:alphaModFix/>
          </a:blip>
          <a:stretch>
            <a:fillRect/>
          </a:stretch>
        </p:blipFill>
        <p:spPr>
          <a:xfrm>
            <a:off x="599875" y="3487575"/>
            <a:ext cx="5022800" cy="1227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2"/>
          <p:cNvSpPr txBox="1">
            <a:spLocks noGrp="1"/>
          </p:cNvSpPr>
          <p:nvPr>
            <p:ph type="subTitle" idx="1"/>
          </p:nvPr>
        </p:nvSpPr>
        <p:spPr>
          <a:xfrm>
            <a:off x="563675" y="1393825"/>
            <a:ext cx="4255500" cy="27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We created a function for telling if numbers are larger than 0, it will return positive and if numbers are less than 0, it will return negative.  A new column named sentiment filled with positive and negative  is created based on the vader compound value.</a:t>
            </a:r>
            <a:endParaRPr dirty="0"/>
          </a:p>
        </p:txBody>
      </p:sp>
      <p:sp>
        <p:nvSpPr>
          <p:cNvPr id="346" name="Google Shape;346;p22"/>
          <p:cNvSpPr txBox="1">
            <a:spLocks noGrp="1"/>
          </p:cNvSpPr>
          <p:nvPr>
            <p:ph type="ctrTitle"/>
          </p:nvPr>
        </p:nvSpPr>
        <p:spPr>
          <a:xfrm>
            <a:off x="527275" y="145275"/>
            <a:ext cx="7989600" cy="925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Sentiment Modeling</a:t>
            </a:r>
            <a:endParaRPr/>
          </a:p>
        </p:txBody>
      </p:sp>
      <p:pic>
        <p:nvPicPr>
          <p:cNvPr id="347" name="Google Shape;347;p22"/>
          <p:cNvPicPr preferRelativeResize="0"/>
          <p:nvPr/>
        </p:nvPicPr>
        <p:blipFill>
          <a:blip r:embed="rId3">
            <a:alphaModFix/>
          </a:blip>
          <a:stretch>
            <a:fillRect/>
          </a:stretch>
        </p:blipFill>
        <p:spPr>
          <a:xfrm>
            <a:off x="5159600" y="1442700"/>
            <a:ext cx="3054700" cy="2258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ctrTitle"/>
          </p:nvPr>
        </p:nvSpPr>
        <p:spPr>
          <a:xfrm>
            <a:off x="2978270" y="1876072"/>
            <a:ext cx="3187460" cy="139135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000" dirty="0"/>
              <a:t>The Models</a:t>
            </a:r>
          </a:p>
        </p:txBody>
      </p:sp>
    </p:spTree>
    <p:extLst>
      <p:ext uri="{BB962C8B-B14F-4D97-AF65-F5344CB8AC3E}">
        <p14:creationId xmlns:p14="http://schemas.microsoft.com/office/powerpoint/2010/main" val="2809077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3"/>
          <p:cNvSpPr txBox="1">
            <a:spLocks noGrp="1"/>
          </p:cNvSpPr>
          <p:nvPr>
            <p:ph type="ctrTitle"/>
          </p:nvPr>
        </p:nvSpPr>
        <p:spPr>
          <a:xfrm>
            <a:off x="227800" y="353250"/>
            <a:ext cx="6758100" cy="695400"/>
          </a:xfrm>
          <a:prstGeom prst="rect">
            <a:avLst/>
          </a:prstGeom>
        </p:spPr>
        <p:txBody>
          <a:bodyPr spcFirstLastPara="1" wrap="square" lIns="91425" tIns="91425" rIns="91425" bIns="91425" anchor="ctr" anchorCtr="0">
            <a:normAutofit fontScale="90000"/>
          </a:bodyPr>
          <a:lstStyle/>
          <a:p>
            <a:pPr marL="457200" lvl="0" indent="0" algn="l" rtl="0">
              <a:spcBef>
                <a:spcPts val="0"/>
              </a:spcBef>
              <a:spcAft>
                <a:spcPts val="0"/>
              </a:spcAft>
              <a:buNone/>
            </a:pPr>
            <a:r>
              <a:rPr lang="en"/>
              <a:t>Naive Bayes Multinomial</a:t>
            </a:r>
            <a:endParaRPr/>
          </a:p>
        </p:txBody>
      </p:sp>
      <p:pic>
        <p:nvPicPr>
          <p:cNvPr id="353" name="Google Shape;353;p23"/>
          <p:cNvPicPr preferRelativeResize="0"/>
          <p:nvPr/>
        </p:nvPicPr>
        <p:blipFill>
          <a:blip r:embed="rId3">
            <a:alphaModFix/>
          </a:blip>
          <a:stretch>
            <a:fillRect/>
          </a:stretch>
        </p:blipFill>
        <p:spPr>
          <a:xfrm>
            <a:off x="824000" y="1596725"/>
            <a:ext cx="4700625" cy="1451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4"/>
          <p:cNvSpPr txBox="1">
            <a:spLocks noGrp="1"/>
          </p:cNvSpPr>
          <p:nvPr>
            <p:ph type="ctrTitle"/>
          </p:nvPr>
        </p:nvSpPr>
        <p:spPr>
          <a:xfrm>
            <a:off x="231775" y="318025"/>
            <a:ext cx="6655500" cy="877200"/>
          </a:xfrm>
          <a:prstGeom prst="rect">
            <a:avLst/>
          </a:prstGeom>
        </p:spPr>
        <p:txBody>
          <a:bodyPr spcFirstLastPara="1" wrap="square" lIns="91425" tIns="91425" rIns="91425" bIns="91425" anchor="ctr" anchorCtr="0">
            <a:normAutofit/>
          </a:bodyPr>
          <a:lstStyle/>
          <a:p>
            <a:pPr marL="457200" lvl="0" indent="0" algn="l" rtl="0">
              <a:spcBef>
                <a:spcPts val="0"/>
              </a:spcBef>
              <a:spcAft>
                <a:spcPts val="0"/>
              </a:spcAft>
              <a:buNone/>
            </a:pPr>
            <a:r>
              <a:rPr lang="en"/>
              <a:t>Logistic Regression</a:t>
            </a:r>
            <a:endParaRPr/>
          </a:p>
        </p:txBody>
      </p:sp>
      <p:pic>
        <p:nvPicPr>
          <p:cNvPr id="359" name="Google Shape;359;p24"/>
          <p:cNvPicPr preferRelativeResize="0"/>
          <p:nvPr/>
        </p:nvPicPr>
        <p:blipFill>
          <a:blip r:embed="rId3">
            <a:alphaModFix/>
          </a:blip>
          <a:stretch>
            <a:fillRect/>
          </a:stretch>
        </p:blipFill>
        <p:spPr>
          <a:xfrm>
            <a:off x="929100" y="1779002"/>
            <a:ext cx="5260850" cy="1273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ctrTitle"/>
          </p:nvPr>
        </p:nvSpPr>
        <p:spPr>
          <a:xfrm>
            <a:off x="1451394" y="1487883"/>
            <a:ext cx="6241212" cy="216773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000" dirty="0"/>
              <a:t>Challenges &amp; Learnings</a:t>
            </a:r>
          </a:p>
        </p:txBody>
      </p:sp>
    </p:spTree>
    <p:extLst>
      <p:ext uri="{BB962C8B-B14F-4D97-AF65-F5344CB8AC3E}">
        <p14:creationId xmlns:p14="http://schemas.microsoft.com/office/powerpoint/2010/main" val="3561309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5"/>
          <p:cNvSpPr txBox="1">
            <a:spLocks noGrp="1"/>
          </p:cNvSpPr>
          <p:nvPr>
            <p:ph type="ctrTitle"/>
          </p:nvPr>
        </p:nvSpPr>
        <p:spPr>
          <a:xfrm>
            <a:off x="621850" y="323975"/>
            <a:ext cx="8076000" cy="827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Challenges &amp; Learnings</a:t>
            </a:r>
            <a:endParaRPr/>
          </a:p>
        </p:txBody>
      </p:sp>
      <p:sp>
        <p:nvSpPr>
          <p:cNvPr id="365" name="Google Shape;365;p25"/>
          <p:cNvSpPr txBox="1">
            <a:spLocks noGrp="1"/>
          </p:cNvSpPr>
          <p:nvPr>
            <p:ph type="subTitle" idx="1"/>
          </p:nvPr>
        </p:nvSpPr>
        <p:spPr>
          <a:xfrm>
            <a:off x="980875" y="1483950"/>
            <a:ext cx="4255500" cy="10878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 sz="2500"/>
              <a:t>Challenges:</a:t>
            </a:r>
            <a:endParaRPr sz="2500"/>
          </a:p>
          <a:p>
            <a:pPr marL="457200" lvl="0" indent="-330200" algn="l" rtl="0">
              <a:spcBef>
                <a:spcPts val="0"/>
              </a:spcBef>
              <a:spcAft>
                <a:spcPts val="0"/>
              </a:spcAft>
              <a:buSzPts val="1600"/>
              <a:buChar char="-"/>
            </a:pPr>
            <a:r>
              <a:rPr lang="en"/>
              <a:t>Sarcasm</a:t>
            </a:r>
            <a:endParaRPr/>
          </a:p>
          <a:p>
            <a:pPr marL="457200" lvl="0" indent="-330200" algn="l" rtl="0">
              <a:spcBef>
                <a:spcPts val="0"/>
              </a:spcBef>
              <a:spcAft>
                <a:spcPts val="0"/>
              </a:spcAft>
              <a:buSzPts val="1600"/>
              <a:buChar char="-"/>
            </a:pPr>
            <a:r>
              <a:rPr lang="en"/>
              <a:t>Emojis</a:t>
            </a:r>
            <a:endParaRPr/>
          </a:p>
          <a:p>
            <a:pPr marL="457200" lvl="0" indent="-330200" algn="l" rtl="0">
              <a:spcBef>
                <a:spcPts val="0"/>
              </a:spcBef>
              <a:spcAft>
                <a:spcPts val="0"/>
              </a:spcAft>
              <a:buSzPts val="1600"/>
              <a:buChar char="-"/>
            </a:pPr>
            <a:r>
              <a:rPr lang="en"/>
              <a:t>Idioms</a:t>
            </a:r>
            <a:endParaRPr/>
          </a:p>
        </p:txBody>
      </p:sp>
      <p:sp>
        <p:nvSpPr>
          <p:cNvPr id="366" name="Google Shape;366;p25"/>
          <p:cNvSpPr txBox="1"/>
          <p:nvPr/>
        </p:nvSpPr>
        <p:spPr>
          <a:xfrm>
            <a:off x="980875" y="2841825"/>
            <a:ext cx="4640400" cy="15516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500">
                <a:solidFill>
                  <a:schemeClr val="lt1"/>
                </a:solidFill>
                <a:latin typeface="Nunito"/>
                <a:ea typeface="Nunito"/>
                <a:cs typeface="Nunito"/>
                <a:sym typeface="Nunito"/>
              </a:rPr>
              <a:t>Learnings:</a:t>
            </a:r>
            <a:endParaRPr sz="2500">
              <a:solidFill>
                <a:schemeClr val="lt1"/>
              </a:solidFill>
              <a:latin typeface="Nunito"/>
              <a:ea typeface="Nunito"/>
              <a:cs typeface="Nunito"/>
              <a:sym typeface="Nunito"/>
            </a:endParaRPr>
          </a:p>
          <a:p>
            <a:pPr marL="457200" lvl="0" indent="-330200" algn="l" rtl="0">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tfidf</a:t>
            </a:r>
            <a:endParaRPr sz="1600">
              <a:solidFill>
                <a:schemeClr val="lt1"/>
              </a:solidFill>
              <a:latin typeface="Nunito"/>
              <a:ea typeface="Nunito"/>
              <a:cs typeface="Nunito"/>
              <a:sym typeface="Nunito"/>
            </a:endParaRPr>
          </a:p>
          <a:p>
            <a:pPr marL="457200" lvl="0" indent="-330200" algn="l" rtl="0">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Polarity score</a:t>
            </a:r>
            <a:endParaRPr sz="1600">
              <a:solidFill>
                <a:schemeClr val="lt1"/>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6"/>
          <p:cNvSpPr txBox="1">
            <a:spLocks noGrp="1"/>
          </p:cNvSpPr>
          <p:nvPr>
            <p:ph type="ctrTitle"/>
          </p:nvPr>
        </p:nvSpPr>
        <p:spPr>
          <a:xfrm>
            <a:off x="1721725" y="1383363"/>
            <a:ext cx="4255500" cy="18729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700"/>
              <a:t>Q&amp;A</a:t>
            </a:r>
            <a:endParaRPr sz="4700"/>
          </a:p>
          <a:p>
            <a:pPr marL="0" lvl="0" indent="0" algn="l" rtl="0">
              <a:spcBef>
                <a:spcPts val="0"/>
              </a:spcBef>
              <a:spcAft>
                <a:spcPts val="0"/>
              </a:spcAft>
              <a:buNone/>
            </a:pPr>
            <a:endParaRPr sz="4700"/>
          </a:p>
          <a:p>
            <a:pPr marL="0" lvl="0" indent="0" algn="l" rtl="0">
              <a:spcBef>
                <a:spcPts val="0"/>
              </a:spcBef>
              <a:spcAft>
                <a:spcPts val="0"/>
              </a:spcAft>
              <a:buNone/>
            </a:pPr>
            <a:r>
              <a:rPr lang="en" sz="4700"/>
              <a:t>Thank You</a:t>
            </a:r>
            <a:endParaRPr sz="4700"/>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1411</Words>
  <Application>Microsoft Office PowerPoint</Application>
  <PresentationFormat>On-screen Show (16:9)</PresentationFormat>
  <Paragraphs>129</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Maven Pro</vt:lpstr>
      <vt:lpstr>Times New Roman</vt:lpstr>
      <vt:lpstr>Arial</vt:lpstr>
      <vt:lpstr>等线</vt:lpstr>
      <vt:lpstr>Nunito</vt:lpstr>
      <vt:lpstr>Roboto</vt:lpstr>
      <vt:lpstr>Momentum</vt:lpstr>
      <vt:lpstr>Sentimental Analysis on Google Play Reviews</vt:lpstr>
      <vt:lpstr>Introduction</vt:lpstr>
      <vt:lpstr>Data Description</vt:lpstr>
      <vt:lpstr>Data Description</vt:lpstr>
      <vt:lpstr>Data Cleaning</vt:lpstr>
      <vt:lpstr>Steps of Approach </vt:lpstr>
      <vt:lpstr>Our Approach</vt:lpstr>
      <vt:lpstr>Text Preprocessing  </vt:lpstr>
      <vt:lpstr> Text Preprocessing </vt:lpstr>
      <vt:lpstr>Text Visualization</vt:lpstr>
      <vt:lpstr>Sentiment Analysis</vt:lpstr>
      <vt:lpstr>Sentiment Modeling</vt:lpstr>
      <vt:lpstr>The Models</vt:lpstr>
      <vt:lpstr>Naive Bayes Multinomial</vt:lpstr>
      <vt:lpstr>Logistic Regression</vt:lpstr>
      <vt:lpstr>Challenges &amp; Learnings</vt:lpstr>
      <vt:lpstr>Challenges &amp; Learnings</vt:lpstr>
      <vt:lpstr>Q&amp;A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Sentimental Analysis on Google Play Reviews</dc:title>
  <dc:creator>Georeg H</dc:creator>
  <cp:lastModifiedBy>George Huang-MSBA22A</cp:lastModifiedBy>
  <cp:revision>3</cp:revision>
  <dcterms:modified xsi:type="dcterms:W3CDTF">2022-06-07T12:03:26Z</dcterms:modified>
</cp:coreProperties>
</file>